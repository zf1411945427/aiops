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1A2333"/>
                </a:solidFill>
                <a:latin typeface="Arial"/>
              </a:defRPr>
            </a:pPr>
            <a:r>
              <a:t>AIOps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智能运维体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3B82F6"/>
                </a:solidFill>
                <a:latin typeface="Consolas"/>
              </a:defRPr>
            </a:pPr>
            <a:r>
              <a:t>// TECHNICAL DEEP DIVE · FOR ENGINEERING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4400" b="1">
                <a:solidFill>
                  <a:srgbClr val="1A2333"/>
                </a:solidFill>
                <a:latin typeface="Microsoft YaHei"/>
              </a:defRPr>
            </a:pPr>
            <a:r>
              <a:t>技术架构深度解析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A5868"/>
                </a:solidFill>
                <a:latin typeface="Microsoft YaHei"/>
              </a:defRPr>
            </a:pPr>
            <a:r>
              <a:t>从架构设计到代码实现的全景技术分享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7A8898"/>
                </a:solidFill>
                <a:latin typeface="Microsoft YaHei"/>
              </a:defRPr>
            </a:pPr>
            <a:r>
              <a:t>175 个 Python 模块 · 97 个 Vue 组件 · 81 个 API 路由</a:t>
            </a:r>
            <a:br/>
            <a:r>
              <a:t>147 个 E2E 测试 · 6 种根因算法 · 30+ 数据库表</a:t>
            </a:r>
            <a:br/>
            <a:r>
              <a:t>MCP 协议原生 · 三端支持 · 三层 K8s 纳管模型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371600"/>
            <a:ext cx="3931920" cy="47548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600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A2333"/>
                </a:solidFill>
                <a:latin typeface="Arial"/>
              </a:defRPr>
            </a:pPr>
            <a:r>
              <a:t>Tech Stack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965960"/>
            <a:ext cx="3383280" cy="9144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214884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Python 3.13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14884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FastAPI 0.115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214884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SQLAlchemy 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44200" y="214884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SQLite WAL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333756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Vue 3.5 + Vite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333756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Element Plus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9800" y="333756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ECharts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44200" y="333756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Vue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452628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Kubernetes 36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452628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Paramiko SSH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452628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Ansible 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44200" y="452628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PyMilvus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Technical Deep Dive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1/40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4A5868"/>
                </a:solidFill>
                <a:latin typeface="Microsoft YaHei"/>
              </a:defRPr>
            </a:pPr>
            <a:r>
              <a:t>技术深度解析目录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Technical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2/40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2697480" cy="13716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3B82F6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系统架构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688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7A8898"/>
                </a:solidFill>
                <a:latin typeface="Microsoft YaHei"/>
              </a:defRPr>
            </a:pPr>
            <a:r>
              <a:t>六层分层 + 三端渲染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645920"/>
            <a:ext cx="2697480" cy="13716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783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0D9488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14884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后端架构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4688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7A8898"/>
                </a:solidFill>
                <a:latin typeface="Microsoft YaHei"/>
              </a:defRPr>
            </a:pPr>
            <a:r>
              <a:t>FastAPI 路由 + 中间件 + 服务层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45920"/>
            <a:ext cx="2697480" cy="13716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7C3AED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4884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数据层设计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688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7A8898"/>
                </a:solidFill>
                <a:latin typeface="Microsoft YaHei"/>
              </a:defRPr>
            </a:pPr>
            <a:r>
              <a:t>SQLite WAL + 30+ 表 + 双库模式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645920"/>
            <a:ext cx="2697480" cy="13716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1783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4F46E5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14884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前端架构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4688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7A8898"/>
                </a:solidFill>
                <a:latin typeface="Microsoft YaHei"/>
              </a:defRPr>
            </a:pPr>
            <a:r>
              <a:t>Vue 3 SPA + 69 视图 + 代码分割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291840"/>
            <a:ext cx="2697480" cy="13716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4290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D97706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7947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AI/ML 引擎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114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7A8898"/>
                </a:solidFill>
                <a:latin typeface="Microsoft YaHei"/>
              </a:defRPr>
            </a:pPr>
            <a:r>
              <a:t>Embedding + RAG + 6 算法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37560" y="3291840"/>
            <a:ext cx="2697480" cy="13716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34290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3B82F6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37947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MCP &amp;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114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7A8898"/>
                </a:solidFill>
                <a:latin typeface="Microsoft YaHei"/>
              </a:defRPr>
            </a:pPr>
            <a:r>
              <a:t>工具协议 + ReAct 循环 + 编排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291840"/>
            <a:ext cx="2697480" cy="13716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4290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DC2626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7947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告警引擎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114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7A8898"/>
                </a:solidFill>
                <a:latin typeface="Microsoft YaHei"/>
              </a:defRPr>
            </a:pPr>
            <a:r>
              <a:t>规则 + 聚合 + 风暴检测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98280" y="3291840"/>
            <a:ext cx="2697480" cy="13716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81160" y="34290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0D9488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37947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K8s 纳管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4114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7A8898"/>
                </a:solidFill>
                <a:latin typeface="Microsoft YaHei"/>
              </a:defRPr>
            </a:pPr>
            <a:r>
              <a:t>三层模型 + API Client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937760"/>
            <a:ext cx="2697480" cy="13716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0749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7C3AED"/>
                </a:solidFill>
                <a:latin typeface="Consolas"/>
              </a:defRPr>
            </a:pPr>
            <a:r>
              <a:t>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4406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自动化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7607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7A8898"/>
                </a:solidFill>
                <a:latin typeface="Microsoft YaHei"/>
              </a:defRPr>
            </a:pPr>
            <a:r>
              <a:t>自愈 + Runbook + SOP + 变更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37560" y="4937760"/>
            <a:ext cx="2697480" cy="13716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20440" y="50749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4F46E5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20440" y="54406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安全架构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20440" y="57607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7A8898"/>
                </a:solidFill>
                <a:latin typeface="Microsoft YaHei"/>
              </a:defRPr>
            </a:pPr>
            <a:r>
              <a:t>RBAC + 审计 + API Key + 加密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4937760"/>
            <a:ext cx="2697480" cy="13716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50749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D97706"/>
                </a:solidFill>
                <a:latin typeface="Consolas"/>
              </a:defRPr>
            </a:pPr>
            <a:r>
              <a:t>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4406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部署与运维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57607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7A8898"/>
                </a:solidFill>
                <a:latin typeface="Microsoft YaHei"/>
              </a:defRPr>
            </a:pPr>
            <a:r>
              <a:t>三端部署 + 监控 + 性能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098280" y="4937760"/>
            <a:ext cx="2697480" cy="13716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81160" y="50749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3B82F6"/>
                </a:solidFill>
                <a:latin typeface="Consolas"/>
              </a:defRPr>
            </a:pPr>
            <a:r>
              <a:t>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81160" y="54406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测试体系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81160" y="57607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7A8898"/>
                </a:solidFill>
                <a:latin typeface="Microsoft YaHei"/>
              </a:defRPr>
            </a:pPr>
            <a:r>
              <a:t>147 E2E + 24 测试文件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// 01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六层分层架构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3/40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0887" y="1554480"/>
            <a:ext cx="10789920" cy="685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00887" y="1554480"/>
            <a:ext cx="45720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3767" y="1600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A2333"/>
                </a:solidFill>
                <a:latin typeface="Consolas"/>
              </a:defRPr>
            </a:pPr>
            <a:r>
              <a:t>L6  可视化与交互层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3767" y="1901952"/>
            <a:ext cx="10424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Vue SPA / Jinja2 / UniApp H5 / ChatOps / ECharts / D3.js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786" y="2377440"/>
            <a:ext cx="10574121" cy="685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8786" y="2377440"/>
            <a:ext cx="45720" cy="685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1666" y="2423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A2333"/>
                </a:solidFill>
                <a:latin typeface="Consolas"/>
              </a:defRPr>
            </a:pPr>
            <a:r>
              <a:t>L5  运维控制面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1666" y="2724912"/>
            <a:ext cx="1020836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蓝绿发布 / 金丝雀 / 容器终端 / 扩缩容 / 变更审批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6686" y="3200400"/>
            <a:ext cx="10358323" cy="685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6686" y="3200400"/>
            <a:ext cx="45720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9566" y="3246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A2333"/>
                </a:solidFill>
                <a:latin typeface="Consolas"/>
              </a:defRPr>
            </a:pPr>
            <a:r>
              <a:t>L4  业务智能层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9566" y="3547872"/>
            <a:ext cx="99925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异常检测 / 根因分析(6种) / 故障预测 / 告警智能 / AI Agent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585" y="4023360"/>
            <a:ext cx="10142524" cy="685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24585" y="4023360"/>
            <a:ext cx="45720" cy="685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07465" y="4069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A2333"/>
                </a:solidFill>
                <a:latin typeface="Consolas"/>
              </a:defRPr>
            </a:pPr>
            <a:r>
              <a:t>L3  数据处理层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465" y="4370832"/>
            <a:ext cx="97767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特征提取 / 归一化 / 时间窗口聚合 / BM25 + 向量索引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32484" y="4846320"/>
            <a:ext cx="9926726" cy="685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32484" y="4846320"/>
            <a:ext cx="45720" cy="685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15364" y="4892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A2333"/>
                </a:solidFill>
                <a:latin typeface="Consolas"/>
              </a:defRPr>
            </a:pPr>
            <a:r>
              <a:t>L2  数据采集层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15364" y="5193792"/>
            <a:ext cx="956096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SSH Agent / OTLP / K8s API / CMDB / 日志采集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40383" y="5669280"/>
            <a:ext cx="9710928" cy="685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40383" y="5669280"/>
            <a:ext cx="45720" cy="685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3263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A2333"/>
                </a:solidFill>
                <a:latin typeface="Consolas"/>
              </a:defRPr>
            </a:pPr>
            <a:r>
              <a:t>L1  基础设施层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23263" y="6016752"/>
            <a:ext cx="9345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K8s 多集群 / Docker / cAdvisor / containerd / Service Mesh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1234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▲ 数据上行：采集 → 处理 → 智能 → 控制 → 展示     ▼ 指令下行：用户 → 控制面 → 执行 → 基础设施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// 01 PROJECT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项目规模一览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4/40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2697480" cy="14630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800" b="1">
                <a:solidFill>
                  <a:srgbClr val="3B82F6"/>
                </a:solidFill>
                <a:latin typeface="Arial"/>
              </a:defRPr>
            </a:pPr>
            <a:r>
              <a:t>175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7A8898"/>
                </a:solidFill>
                <a:latin typeface="Microsoft YaHei"/>
              </a:defRPr>
            </a:pPr>
            <a:r>
              <a:t>Python 模块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645920"/>
            <a:ext cx="2697480" cy="14630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8288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800" b="1">
                <a:solidFill>
                  <a:srgbClr val="0D9488"/>
                </a:solidFill>
                <a:latin typeface="Arial"/>
              </a:defRPr>
            </a:pPr>
            <a:r>
              <a:t>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42316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7A8898"/>
                </a:solidFill>
                <a:latin typeface="Microsoft YaHei"/>
              </a:defRPr>
            </a:pPr>
            <a:r>
              <a:t>Vue 组件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2697480" cy="14630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8288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800" b="1">
                <a:solidFill>
                  <a:srgbClr val="7C3AED"/>
                </a:solidFill>
                <a:latin typeface="Arial"/>
              </a:defRPr>
            </a:pPr>
            <a:r>
              <a:t>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42316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7A8898"/>
                </a:solidFill>
                <a:latin typeface="Microsoft YaHei"/>
              </a:defRPr>
            </a:pPr>
            <a:r>
              <a:t>API 路由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645920"/>
            <a:ext cx="2697480" cy="14630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18288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800" b="1">
                <a:solidFill>
                  <a:srgbClr val="D97706"/>
                </a:solidFill>
                <a:latin typeface="Arial"/>
              </a:defRPr>
            </a:pPr>
            <a:r>
              <a:t>30+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42316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7A8898"/>
                </a:solidFill>
                <a:latin typeface="Microsoft YaHei"/>
              </a:defRPr>
            </a:pPr>
            <a:r>
              <a:t>数据库表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474720"/>
            <a:ext cx="2697480" cy="14630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800" b="1">
                <a:solidFill>
                  <a:srgbClr val="DC2626"/>
                </a:solidFill>
                <a:latin typeface="Arial"/>
              </a:defRPr>
            </a:pPr>
            <a:r>
              <a:t>147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25196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7A8898"/>
                </a:solidFill>
                <a:latin typeface="Microsoft YaHei"/>
              </a:defRPr>
            </a:pPr>
            <a:r>
              <a:t>E2E 测试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37560" y="3474720"/>
            <a:ext cx="2697480" cy="14630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36576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800" b="1">
                <a:solidFill>
                  <a:srgbClr val="4F46E5"/>
                </a:solidFill>
                <a:latin typeface="Arial"/>
              </a:defRPr>
            </a:pPr>
            <a:r>
              <a:t>117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425196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7A8898"/>
                </a:solidFill>
                <a:latin typeface="Microsoft YaHei"/>
              </a:defRPr>
            </a:pPr>
            <a:r>
              <a:t>Jinja2 模板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474720"/>
            <a:ext cx="2697480" cy="14630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6576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800" b="1">
                <a:solidFill>
                  <a:srgbClr val="3B82F6"/>
                </a:solidFill>
                <a:latin typeface="Arial"/>
              </a:defRPr>
            </a:pPr>
            <a:r>
              <a:t>39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25196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7A8898"/>
                </a:solidFill>
                <a:latin typeface="Microsoft YaHei"/>
              </a:defRPr>
            </a:pPr>
            <a:r>
              <a:t>Service 服务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98280" y="3474720"/>
            <a:ext cx="2697480" cy="14630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98280" y="36576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800" b="1">
                <a:solidFill>
                  <a:srgbClr val="0D9488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425196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7A8898"/>
                </a:solidFill>
                <a:latin typeface="Microsoft YaHei"/>
              </a:defRPr>
            </a:pPr>
            <a:r>
              <a:t>RCA 算法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120640"/>
            <a:ext cx="11247120" cy="10972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212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A2333"/>
                </a:solidFill>
                <a:latin typeface="Microsoft YaHei"/>
              </a:defRPr>
            </a:pPr>
            <a:r>
              <a:t>文件分布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5778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3B82F6"/>
                </a:solidFill>
                <a:latin typeface="Consolas"/>
              </a:defRPr>
            </a:pPr>
            <a:r>
              <a:t>app/routers/  90 模块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55778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0D9488"/>
                </a:solidFill>
                <a:latin typeface="Consolas"/>
              </a:defRPr>
            </a:pPr>
            <a:r>
              <a:t>app/services/  39 模块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55778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C3AED"/>
                </a:solidFill>
                <a:latin typeface="Consolas"/>
              </a:defRPr>
            </a:pPr>
            <a:r>
              <a:t>frontend/views/  69 组件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199" y="55778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D97706"/>
                </a:solidFill>
                <a:latin typeface="Consolas"/>
              </a:defRPr>
            </a:pPr>
            <a:r>
              <a:t>tests/  24 测试文件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0" y="55778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4F46E5"/>
                </a:solidFill>
                <a:latin typeface="Consolas"/>
              </a:defRPr>
            </a:pPr>
            <a:r>
              <a:t>mobile/pages/  17 页面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// 02 BACKEND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FastAPI + SQLAlchemy + 中间件链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5/40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5486400" cy="4572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请求处理链路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5029200" cy="384048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# app/main.py — 请求处理链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Browser Request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  → CORS Middleware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  → SessionMiddleware (cookie-based)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  → AuthMiddleware (RBAC 校验)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  → RateLimiter (slowapi 1000/min)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  → Router (81 个路由模块)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    → Service Layer (39 个服务)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      → SQLAlchemy ORM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        → SQLite (WAL 模式)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# 双数据库模式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DEMO_DB  → 演示数据 (seed_data.py)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REAL_DB  → 生产数据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自动切换: is_demo_user() → 选择库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486400" cy="4572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核心模块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945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3B82F6"/>
                </a:solidFill>
                <a:latin typeface="Consolas"/>
              </a:defRPr>
            </a:pPr>
            <a:r>
              <a:t>main.py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1945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631 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1945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A5868"/>
                </a:solidFill>
                <a:latin typeface="Microsoft YaHei"/>
              </a:defRPr>
            </a:pPr>
            <a:r>
              <a:t>应用入口/中间件/路由挂载/后台线程/DB迁移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517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0D9488"/>
                </a:solidFill>
                <a:latin typeface="Consolas"/>
              </a:defRPr>
            </a:pPr>
            <a:r>
              <a:t>models.py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6517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~30 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6517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A5868"/>
                </a:solidFill>
                <a:latin typeface="Microsoft YaHei"/>
              </a:defRPr>
            </a:pPr>
            <a:r>
              <a:t>ORM 模型定义 (资产/告警/AI/SRE/工作流)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1089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C3AED"/>
                </a:solidFill>
                <a:latin typeface="Consolas"/>
              </a:defRPr>
            </a:pPr>
            <a:r>
              <a:t>database.py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1089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双库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1089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A5868"/>
                </a:solidFill>
                <a:latin typeface="Microsoft YaHei"/>
              </a:defRPr>
            </a:pPr>
            <a:r>
              <a:t>Demo + Real 自动切换, SQLite WAL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5661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4F46E5"/>
                </a:solidFill>
                <a:latin typeface="Consolas"/>
              </a:defRPr>
            </a:pPr>
            <a:r>
              <a:t>config.py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35661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集中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5661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A5868"/>
                </a:solidFill>
                <a:latin typeface="Microsoft YaHei"/>
              </a:defRPr>
            </a:pPr>
            <a:r>
              <a:t>环境变量管理密钥/数据库路径/功能开关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0233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D97706"/>
                </a:solidFill>
                <a:latin typeface="Consolas"/>
              </a:defRPr>
            </a:pPr>
            <a:r>
              <a:t>security.py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40233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认证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0233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A5868"/>
                </a:solidFill>
                <a:latin typeface="Microsoft YaHei"/>
              </a:defRPr>
            </a:pPr>
            <a:r>
              <a:t>bcrypt 加盐哈希 + Session + RBAC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4805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3B82F6"/>
                </a:solidFill>
                <a:latin typeface="Consolas"/>
              </a:defRPr>
            </a:pPr>
            <a:r>
              <a:t>cache.py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44805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缓存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4805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A5868"/>
                </a:solidFill>
                <a:latin typeface="Microsoft YaHei"/>
              </a:defRPr>
            </a:pPr>
            <a:r>
              <a:t>@cached(ttl=15) + BM25 内存缓存(300s)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9377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0D9488"/>
                </a:solidFill>
                <a:latin typeface="Consolas"/>
              </a:defRPr>
            </a:pPr>
            <a:r>
              <a:t>logger.py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49377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日志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9377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A5868"/>
                </a:solidFill>
                <a:latin typeface="Microsoft YaHei"/>
              </a:defRPr>
            </a:pPr>
            <a:r>
              <a:t>loguru 结构化日志 (替换 30 处 print)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3949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DC2626"/>
                </a:solidFill>
                <a:latin typeface="Consolas"/>
              </a:defRPr>
            </a:pPr>
            <a:r>
              <a:t>seed_data.py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53949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种子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53949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A5868"/>
                </a:solidFill>
                <a:latin typeface="Microsoft YaHei"/>
              </a:defRPr>
            </a:pPr>
            <a:r>
              <a:t>Demo 数据自动生成 (284 资产)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// 02 ROUTER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81 个路由模块 · 11 大功能域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6/40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3566160" cy="12344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36576" cy="1234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A2333"/>
                </a:solidFill>
                <a:latin typeface="Microsoft YaHei"/>
              </a:defRPr>
            </a:pPr>
            <a:r>
              <a:t>可观测性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75564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600" b="0">
                <a:solidFill>
                  <a:srgbClr val="3B82F6"/>
                </a:solidFill>
                <a:latin typeface="Consolas"/>
              </a:defRPr>
            </a:pPr>
            <a: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A8898"/>
                </a:solidFill>
                <a:latin typeface="Consolas"/>
              </a:defRPr>
            </a:pPr>
            <a:r>
              <a:t>metrics/logs/traces/topo/dashboard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645920"/>
            <a:ext cx="3566160" cy="12344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645920"/>
            <a:ext cx="36576" cy="1234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737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A2333"/>
                </a:solidFill>
                <a:latin typeface="Microsoft YaHei"/>
              </a:defRPr>
            </a:pPr>
            <a:r>
              <a:t>告警事件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175564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600" b="0">
                <a:solidFill>
                  <a:srgbClr val="DC2626"/>
                </a:solidFill>
                <a:latin typeface="Consolas"/>
              </a:defRPr>
            </a:pPr>
            <a: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103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A8898"/>
                </a:solidFill>
                <a:latin typeface="Consolas"/>
              </a:defRPr>
            </a:pPr>
            <a:r>
              <a:t>alerts/storm/silence/correlation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645920"/>
            <a:ext cx="3566160" cy="12344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645920"/>
            <a:ext cx="36576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737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A2333"/>
                </a:solidFill>
                <a:latin typeface="Microsoft YaHei"/>
              </a:defRPr>
            </a:pPr>
            <a:r>
              <a:t>根因分析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175564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600" b="0">
                <a:solidFill>
                  <a:srgbClr val="7C3AED"/>
                </a:solidFill>
                <a:latin typeface="Consolas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103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A8898"/>
                </a:solidFill>
                <a:latin typeface="Consolas"/>
              </a:defRPr>
            </a:pPr>
            <a:r>
              <a:t>pagerank/granger/dtw/idice/pcadr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063240"/>
            <a:ext cx="3566160" cy="12344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063240"/>
            <a:ext cx="36576" cy="1234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154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A2333"/>
                </a:solidFill>
                <a:latin typeface="Microsoft YaHei"/>
              </a:defRPr>
            </a:pPr>
            <a:r>
              <a:t>自动化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317296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600" b="0">
                <a:solidFill>
                  <a:srgbClr val="0D9488"/>
                </a:solidFill>
                <a:latin typeface="Consolas"/>
              </a:defRPr>
            </a:pPr>
            <a: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5204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A8898"/>
                </a:solidFill>
                <a:latin typeface="Consolas"/>
              </a:defRPr>
            </a:pPr>
            <a:r>
              <a:t>remediation/runbook/script/blue-green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3063240"/>
            <a:ext cx="3566160" cy="12344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51960" y="3063240"/>
            <a:ext cx="36576" cy="1234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3154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A2333"/>
                </a:solidFill>
                <a:latin typeface="Microsoft YaHei"/>
              </a:defRPr>
            </a:pPr>
            <a:r>
              <a:t>AI 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17296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600" b="0">
                <a:solidFill>
                  <a:srgbClr val="D97706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35204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A8898"/>
                </a:solidFill>
                <a:latin typeface="Consolas"/>
              </a:defRPr>
            </a:pPr>
            <a:r>
              <a:t>agent_chat/workflow/chatops/providers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3063240"/>
            <a:ext cx="3566160" cy="12344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0" y="3063240"/>
            <a:ext cx="36576" cy="1234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3154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A2333"/>
                </a:solidFill>
                <a:latin typeface="Microsoft YaHei"/>
              </a:defRPr>
            </a:pPr>
            <a:r>
              <a:t>资产管理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317296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600" b="0">
                <a:solidFill>
                  <a:srgbClr val="4F46E5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35204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A8898"/>
                </a:solidFill>
                <a:latin typeface="Consolas"/>
              </a:defRPr>
            </a:pPr>
            <a:r>
              <a:t>assets/cmdb/tags/ci_models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480560"/>
            <a:ext cx="3566160" cy="12344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4480560"/>
            <a:ext cx="36576" cy="1234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572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A2333"/>
                </a:solidFill>
                <a:latin typeface="Microsoft YaHei"/>
              </a:defRPr>
            </a:pPr>
            <a:r>
              <a:t>容器 K8s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45902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600" b="0">
                <a:solidFill>
                  <a:srgbClr val="3B82F6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4937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A8898"/>
                </a:solidFill>
                <a:latin typeface="Consolas"/>
              </a:defRPr>
            </a:pPr>
            <a:r>
              <a:t>containers/k8s_resources/k8s_monitor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51960" y="4480560"/>
            <a:ext cx="3566160" cy="12344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51960" y="4480560"/>
            <a:ext cx="36576" cy="1234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34840" y="4572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A2333"/>
                </a:solidFill>
                <a:latin typeface="Microsoft YaHei"/>
              </a:defRPr>
            </a:pPr>
            <a:r>
              <a:t>SRE 可靠性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6600" y="45902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600" b="0">
                <a:solidFill>
                  <a:srgbClr val="0D9488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34840" y="4937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A8898"/>
                </a:solidFill>
                <a:latin typeface="Consolas"/>
              </a:defRPr>
            </a:pPr>
            <a:r>
              <a:t>sre/posture/reports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46720" y="4480560"/>
            <a:ext cx="3566160" cy="12344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046720" y="4480560"/>
            <a:ext cx="36576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0" y="4572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A2333"/>
                </a:solidFill>
                <a:latin typeface="Microsoft YaHei"/>
              </a:defRPr>
            </a:pPr>
            <a:r>
              <a:t>知识库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81360" y="45902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600" b="0">
                <a:solidFill>
                  <a:srgbClr val="7C3AED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4937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A8898"/>
                </a:solidFill>
                <a:latin typeface="Consolas"/>
              </a:defRPr>
            </a:pPr>
            <a:r>
              <a:t>knowledge/graph/documents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5897880"/>
            <a:ext cx="3566160" cy="12344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7200" y="5897880"/>
            <a:ext cx="36576" cy="1234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5989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A2333"/>
                </a:solidFill>
                <a:latin typeface="Microsoft YaHei"/>
              </a:defRPr>
            </a:pPr>
            <a:r>
              <a:t>数据集成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91840" y="600760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600" b="0">
                <a:solidFill>
                  <a:srgbClr val="D97706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6355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A8898"/>
                </a:solidFill>
                <a:latin typeface="Consolas"/>
              </a:defRPr>
            </a:pPr>
            <a:r>
              <a:t>datasources/es/kafka/feature_store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251960" y="5897880"/>
            <a:ext cx="3566160" cy="12344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251960" y="5897880"/>
            <a:ext cx="36576" cy="1234440"/>
          </a:xfrm>
          <a:prstGeom prst="rect">
            <a:avLst/>
          </a:prstGeom>
          <a:solidFill>
            <a:srgbClr val="7A88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34840" y="5989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A2333"/>
                </a:solidFill>
                <a:latin typeface="Microsoft YaHei"/>
              </a:defRPr>
            </a:pPr>
            <a:r>
              <a:t>其他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86600" y="600760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600" b="0">
                <a:solidFill>
                  <a:srgbClr val="7A8898"/>
                </a:solidFill>
                <a:latin typeface="Consolas"/>
              </a:defRPr>
            </a:pPr>
            <a:r>
              <a:t>15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4840" y="6355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A8898"/>
                </a:solidFill>
                <a:latin typeface="Consolas"/>
              </a:defRPr>
            </a:pPr>
            <a:r>
              <a:t>chaos/helm/ansible/license/mobile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// 03 DATA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SQLite WAL + 双库模式 + 30+ 张表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7/40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5486400" cy="4572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核心数据表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3B82F6"/>
                </a:solidFill>
                <a:latin typeface="Consolas"/>
              </a:defRPr>
            </a:pPr>
            <a:r>
              <a:t>资产域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14884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assets / asset_relations / asset_changes / tags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3288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DC2626"/>
                </a:solidFill>
                <a:latin typeface="Consolas"/>
              </a:defRPr>
            </a:pPr>
            <a:r>
              <a:t>告警域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532888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alerts / alert_rules / alert_silences / notification_logs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16936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0D9488"/>
                </a:solidFill>
                <a:latin typeface="Consolas"/>
              </a:defRPr>
            </a:pPr>
            <a:r>
              <a:t>指标域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916936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metric_records / metric_configs / datasources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00984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C3AED"/>
                </a:solidFill>
                <a:latin typeface="Consolas"/>
              </a:defRPr>
            </a:pPr>
            <a:r>
              <a:t>AI 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300984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ai_providers / chat_sessions / chat_messages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8503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D97706"/>
                </a:solidFill>
                <a:latin typeface="Consolas"/>
              </a:defRPr>
            </a:pPr>
            <a:r>
              <a:t>工作流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685032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workflow_templates / workflow_runs / workflow_node_runs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06908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4F46E5"/>
                </a:solidFill>
                <a:latin typeface="Consolas"/>
              </a:defRPr>
            </a:pPr>
            <a:r>
              <a:t>SRE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06908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slo_configs / error_budgets / sla_configs / oncall_schedules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5312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3B82F6"/>
                </a:solidFill>
                <a:latin typeface="Consolas"/>
              </a:defRPr>
            </a:pPr>
            <a:r>
              <a:t>知识库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453128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knowledge_base / kb_documents / kb_chunks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837176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0D9488"/>
                </a:solidFill>
                <a:latin typeface="Consolas"/>
              </a:defRPr>
            </a:pPr>
            <a:r>
              <a:t>K8s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837176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k8s_clusters / k8s_namespaces / k8s_deployments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221224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DC2626"/>
                </a:solidFill>
                <a:latin typeface="Consolas"/>
              </a:defRPr>
            </a:pPr>
            <a:r>
              <a:t>自愈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221224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remediation_rules / remediation_runs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60527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C3AED"/>
                </a:solidFill>
                <a:latin typeface="Consolas"/>
              </a:defRPr>
            </a:pPr>
            <a:r>
              <a:t>审计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5605272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audit_logs / tool_invocations / pending_actions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1645920"/>
            <a:ext cx="5486400" cy="219456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1783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双数据库模式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2194560"/>
            <a:ext cx="5029200" cy="146304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22860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# database.py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DEMO_DB  = 'db/demo.db'   # 演示数据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REAL_DB  = 'db/aiops.db'  # 生产数据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def get_db():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    if is_demo_user(current_user):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        return demo_session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    return real_session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023360"/>
            <a:ext cx="5486400" cy="219456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160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性能优化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4572000"/>
            <a:ext cx="5029200" cy="146304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466344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# 12 个数据库索引 (S9 审计修复)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idx_metric_records_ts     ON metric_records(timestamp)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idx_alerts_status_sev     ON alerts(status, severity)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idx_k8s_events_cluster    ON k8s_events(cluster)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idx_notification_logs_user ON notification_logs(user_id)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# pool_pre_ping + pool_recycle=3600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# ThreadPoolExecutor(max_workers=5) 并发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// 04 FRONTEND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Vue 3 + Vite + Element Plus + ECharts + Vue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8/40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3566160" cy="32004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356616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桌面 Vue SPA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→ 69 个视图组件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→ 懒加载路由分割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54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→ 3.26MB → 70+ chunks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→ 初始加载 ~200KB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69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→ Pinia 状态管理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645920"/>
            <a:ext cx="3566160" cy="32004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645920"/>
            <a:ext cx="356616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828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桌面 Jinja2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→ 117 个模板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697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→ 传统运维页面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154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→ iframe 内嵌到 Vue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611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→ 服务器渲染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069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→ 渐进式迁移中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1645920"/>
            <a:ext cx="3566160" cy="32004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1645920"/>
            <a:ext cx="356616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1828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移动端 UniApp H5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→ 17 个页面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697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→ 5 个通用组件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154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→ 扫码识别/推送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611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→ 底部导航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069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→ H5 构建产物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029200"/>
            <a:ext cx="11247120" cy="11887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120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A2333"/>
                </a:solidFill>
                <a:latin typeface="Microsoft YaHei"/>
              </a:defRPr>
            </a:pPr>
            <a:r>
              <a:t>代码分割策略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440680"/>
            <a:ext cx="10698480" cy="6858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53212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manualChunks: { vendor: [vue, vue-router, pinia], element: [element-plus], echarts: [echarts], vueflow: [@vue-flow/core] }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defineAsyncComponent: 所有路由级组件懒加载 → 70+ 独立 chunk → 初始 bundle 从 3.26MB 降至 ~200KB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// 05 AI/ML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Embedding · RAG · 异常检测 · 根因分析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9/40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5486400" cy="4572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RAG V2 检索增强生成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5029200" cy="384048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# 语义 Embedding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Model: BGE-small-zh-v1.5 (512维)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  ↓ CPU 可用, 编码 9 切片 &lt; 1s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  ↓ HF_HUB_OFFLINE=1 强制离线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# 向量存储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Milvus Lite (kb_v2.db)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  insert/delete → load_collection()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  filter 注入转义 (S12 修复)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# 混合检索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BM25 内存缓存 (TTL=300s)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  + 语义向量检索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  → 排名归一化融合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# 前端交互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上传 → 异步 Embedding (0.05s 返回)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  → 后台索引 (pending 状态脉冲动画)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486400" cy="21031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7 种异常检测算法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945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3B82F6"/>
                </a:solidFill>
                <a:latin typeface="Consolas"/>
              </a:defRPr>
            </a:pPr>
            <a:r>
              <a:t>Sigma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2316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Microsoft YaHei"/>
              </a:defRPr>
            </a:pPr>
            <a:r>
              <a:t>统计偏离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1945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0D9488"/>
                </a:solidFill>
                <a:latin typeface="Consolas"/>
              </a:defRPr>
            </a:pPr>
            <a:r>
              <a:t>EWMA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242316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Microsoft YaHei"/>
              </a:defRPr>
            </a:pPr>
            <a:r>
              <a:t>指数加权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1945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C3AED"/>
                </a:solidFill>
                <a:latin typeface="Consolas"/>
              </a:defRPr>
            </a:pPr>
            <a:r>
              <a:t>STL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42316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Microsoft YaHei"/>
              </a:defRPr>
            </a:pPr>
            <a:r>
              <a:t>时序分解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04120" y="21945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4F46E5"/>
                </a:solidFill>
                <a:latin typeface="Consolas"/>
              </a:defRPr>
            </a:pPr>
            <a:r>
              <a:t>MAD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04120" y="242316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Microsoft YaHei"/>
              </a:defRPr>
            </a:pPr>
            <a:r>
              <a:t>中位偏差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834639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D97706"/>
                </a:solidFill>
                <a:latin typeface="Consolas"/>
              </a:defRPr>
            </a:pPr>
            <a:r>
              <a:t>Prophet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063239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Microsoft YaHei"/>
              </a:defRPr>
            </a:pPr>
            <a:r>
              <a:t>趋势预测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2834639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DC2626"/>
                </a:solidFill>
                <a:latin typeface="Consolas"/>
              </a:defRPr>
            </a:pPr>
            <a:r>
              <a:t>LSTM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3063239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Microsoft YaHei"/>
              </a:defRPr>
            </a:pPr>
            <a:r>
              <a:t>深度学习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2834639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3B82F6"/>
                </a:solidFill>
                <a:latin typeface="Consolas"/>
              </a:defRPr>
            </a:pPr>
            <a:r>
              <a:t>Transformer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3063239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Microsoft YaHei"/>
              </a:defRPr>
            </a:pPr>
            <a:r>
              <a:t>注意力机制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931920"/>
            <a:ext cx="5486400" cy="2286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069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6 种根因分析算法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4805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PageRank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0" y="44805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4A5868"/>
                </a:solidFill>
                <a:latin typeface="Microsoft YaHei"/>
              </a:defRPr>
            </a:pPr>
            <a:r>
              <a:t>拓扑排序定位关键节点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44805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0D9488"/>
                </a:solidFill>
                <a:latin typeface="Consolas"/>
              </a:defRPr>
            </a:pPr>
            <a:r>
              <a:t>Granger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44805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4A5868"/>
                </a:solidFill>
                <a:latin typeface="Microsoft YaHei"/>
              </a:defRPr>
            </a:pPr>
            <a:r>
              <a:t>指标间因果关系检验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0292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7C3AED"/>
                </a:solidFill>
                <a:latin typeface="Consolas"/>
              </a:defRPr>
            </a:pPr>
            <a:r>
              <a:t>DTW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0" y="50292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4A5868"/>
                </a:solidFill>
                <a:latin typeface="Microsoft YaHei"/>
              </a:defRPr>
            </a:pPr>
            <a:r>
              <a:t>时序曲线形态匹配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50292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D97706"/>
                </a:solidFill>
                <a:latin typeface="Consolas"/>
              </a:defRPr>
            </a:pPr>
            <a:r>
              <a:t>LogClu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50292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4A5868"/>
                </a:solidFill>
                <a:latin typeface="Microsoft YaHei"/>
              </a:defRPr>
            </a:pPr>
            <a:r>
              <a:t>日志异常模式聚类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5778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DC2626"/>
                </a:solidFill>
                <a:latin typeface="Consolas"/>
              </a:defRPr>
            </a:pPr>
            <a:r>
              <a:t>IDCE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0" y="5577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4A5868"/>
                </a:solidFill>
                <a:latin typeface="Microsoft YaHei"/>
              </a:defRPr>
            </a:pPr>
            <a:r>
              <a:t>拓扑异常子图检测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55778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4F46E5"/>
                </a:solidFill>
                <a:latin typeface="Consolas"/>
              </a:defRPr>
            </a:pPr>
            <a:r>
              <a:t>PCADR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5577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4A5868"/>
                </a:solidFill>
                <a:latin typeface="Microsoft YaHei"/>
              </a:defRPr>
            </a:pPr>
            <a:r>
              <a:t>高维指标降维归因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// 06 MCP &amp; AI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MCP 工具协议 + ReAct 循环 + 智能体编排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10/40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7132320" cy="25603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Agent 处理管道 (7 阶段)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3B82F6"/>
                </a:solidFill>
                <a:latin typeface="Consolas"/>
              </a:defRPr>
            </a:pPr>
            <a:r>
              <a:t>1. 意图识别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Microsoft YaHei"/>
              </a:defRPr>
            </a:pPr>
            <a:r>
              <a:t>LLM 解析自然语言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377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7A8898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2286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0D9488"/>
                </a:solidFill>
                <a:latin typeface="Consolas"/>
              </a:defRPr>
            </a:pPr>
            <a:r>
              <a:t>2. Action Router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2606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Microsoft YaHei"/>
              </a:defRPr>
            </a:pPr>
            <a:r>
              <a:t>路由到 MCP 工具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04872" y="2377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7A8898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5184" y="2286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DC2626"/>
                </a:solidFill>
                <a:latin typeface="Consolas"/>
              </a:defRPr>
            </a:pPr>
            <a:r>
              <a:t>3. Preflight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15184" y="2606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Microsoft YaHei"/>
              </a:defRPr>
            </a:pPr>
            <a:r>
              <a:t>权限/预算/安全检查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92424" y="2377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7A8898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2736" y="2286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7C3AED"/>
                </a:solidFill>
                <a:latin typeface="Consolas"/>
              </a:defRPr>
            </a:pPr>
            <a:r>
              <a:t>4. Skill+SOP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2736" y="2606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Microsoft YaHei"/>
              </a:defRPr>
            </a:pPr>
            <a:r>
              <a:t>匹配运维剧本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9976" y="2377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7A8898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2286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D97706"/>
                </a:solidFill>
                <a:latin typeface="Consolas"/>
              </a:defRPr>
            </a:pPr>
            <a:r>
              <a:t>5. MCP 执行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2606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Microsoft YaHei"/>
              </a:defRPr>
            </a:pPr>
            <a:r>
              <a:t>调用 13+ 工具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7528" y="2377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7A8898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2286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4F46E5"/>
                </a:solidFill>
                <a:latin typeface="Consolas"/>
              </a:defRPr>
            </a:pPr>
            <a:r>
              <a:t>6. 两阶段回答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2606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Microsoft YaHei"/>
              </a:defRPr>
            </a:pPr>
            <a:r>
              <a:t>分析+执行建议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377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7A8898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5392" y="2286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3B82F6"/>
                </a:solidFill>
                <a:latin typeface="Consolas"/>
              </a:defRPr>
            </a:pPr>
            <a:r>
              <a:t>7. Pending 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2606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Microsoft YaHei"/>
              </a:defRPr>
            </a:pPr>
            <a:r>
              <a:t>高风险人工确认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389120"/>
            <a:ext cx="7132320" cy="1828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5262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A2333"/>
                </a:solidFill>
                <a:latin typeface="Microsoft YaHei"/>
              </a:defRPr>
            </a:pPr>
            <a:r>
              <a:t>13+ MCP 工具注册 (mcp_registry.py + mcp_tools.py)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9377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3B82F6"/>
                </a:solidFill>
                <a:latin typeface="Consolas"/>
              </a:defRPr>
            </a:pPr>
            <a:r>
              <a:t>query_alerts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13892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Microsoft YaHei"/>
              </a:defRPr>
            </a:pPr>
            <a:r>
              <a:t>告警查询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39" y="49377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3B82F6"/>
                </a:solidFill>
                <a:latin typeface="Consolas"/>
              </a:defRPr>
            </a:pPr>
            <a:r>
              <a:t>query_metrics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7439" y="513892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Microsoft YaHei"/>
              </a:defRPr>
            </a:pPr>
            <a:r>
              <a:t>指标查询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49377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3B82F6"/>
                </a:solidFill>
                <a:latin typeface="Consolas"/>
              </a:defRPr>
            </a:pPr>
            <a:r>
              <a:t>query_logs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513892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Microsoft YaHei"/>
              </a:defRPr>
            </a:pPr>
            <a:r>
              <a:t>日志查询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59" y="49377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3B82F6"/>
                </a:solidFill>
                <a:latin typeface="Consolas"/>
              </a:defRPr>
            </a:pPr>
            <a:r>
              <a:t>query_assets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59" y="513892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Microsoft YaHei"/>
              </a:defRPr>
            </a:pPr>
            <a:r>
              <a:t>资产查询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4406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3B82F6"/>
                </a:solidFill>
                <a:latin typeface="Consolas"/>
              </a:defRPr>
            </a:pPr>
            <a:r>
              <a:t>query_knowledge_rag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64184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Microsoft YaHei"/>
              </a:defRPr>
            </a:pPr>
            <a:r>
              <a:t>知识库检索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77439" y="54406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3B82F6"/>
                </a:solidFill>
                <a:latin typeface="Consolas"/>
              </a:defRPr>
            </a:pPr>
            <a:r>
              <a:t>query_runbook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77439" y="564184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Microsoft YaHei"/>
              </a:defRPr>
            </a:pPr>
            <a:r>
              <a:t>Runbook查询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54406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3B82F6"/>
                </a:solidFill>
                <a:latin typeface="Consolas"/>
              </a:defRPr>
            </a:pPr>
            <a:r>
              <a:t>execute_script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0" y="564184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Microsoft YaHei"/>
              </a:defRPr>
            </a:pPr>
            <a:r>
              <a:t>脚本执行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52159" y="54406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3B82F6"/>
                </a:solidFill>
                <a:latin typeface="Consolas"/>
              </a:defRPr>
            </a:pPr>
            <a:r>
              <a:t>remediate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52159" y="564184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Microsoft YaHei"/>
              </a:defRPr>
            </a:pPr>
            <a:r>
              <a:t>自愈执行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863840" y="1645920"/>
            <a:ext cx="3840480" cy="4572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0" y="17830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智能体编排 (Vue Flow)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6720" y="2194560"/>
            <a:ext cx="3474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Consolas"/>
              </a:defRPr>
            </a:pPr>
            <a:r>
              <a:t>8 种节点类型: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Consolas"/>
              </a:defRPr>
            </a:pPr>
            <a:r>
              <a:t>  Start / LLM / Tool / Code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Consolas"/>
              </a:defRPr>
            </a:pPr>
            <a:r>
              <a:t>  Condition / Merge / End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Consolas"/>
              </a:defRPr>
            </a:pPr>
            <a:r>
              <a:t>  Human-in-the-Loop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Consolas"/>
              </a:defRPr>
            </a:pPr>
            <a:r>
              <a:t>可视化 DAG 画布: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Consolas"/>
              </a:defRPr>
            </a:pPr>
            <a:r>
              <a:t>  拖拽编排 + 连线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Consolas"/>
              </a:defRPr>
            </a:pPr>
            <a:r>
              <a:t>  节点配置面板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Consolas"/>
              </a:defRPr>
            </a:pPr>
            <a:r>
              <a:t>  执行状态实时追踪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Consolas"/>
              </a:defRPr>
            </a:pPr>
            <a:r>
              <a:t>三套工作流引擎: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Consolas"/>
              </a:defRPr>
            </a:pPr>
            <a:r>
              <a:t>  ① 变更审批 (change_workflow)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Consolas"/>
              </a:defRPr>
            </a:pPr>
            <a:r>
              <a:t>  ② SOP 自动化 (workflow)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Consolas"/>
              </a:defRPr>
            </a:pPr>
            <a:r>
              <a:t>  ③ AI 智能体 (agent_workflow)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// 07 ALERT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规则引擎 · 聚合去重 · 风暴检测 · 告警关联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11/40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356616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36576" cy="2011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规则配置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按指标/资产/条件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多级严重度 P0-P3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阈值/趋势/复合规则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645920"/>
            <a:ext cx="356616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645920"/>
            <a:ext cx="36576" cy="2011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783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聚合去重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1488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相同告警 5min 合并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计数+首次/末次时间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降噪 90% (90+ → 9条)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356616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45920"/>
            <a:ext cx="36576" cy="20116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783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风暴抑制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1488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&gt;N 条/分钟自动触发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抑制 5 分钟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维护窗口静默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31920"/>
            <a:ext cx="356616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931920"/>
            <a:ext cx="36576" cy="2011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069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告警关联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4348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因果/时序关联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K8s 事件自动关联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自动生成故障单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3931920"/>
            <a:ext cx="356616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1960" y="3931920"/>
            <a:ext cx="36576" cy="2011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4069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Webhook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4348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钉钉/企微/邮件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自定义模板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告警生命周期回调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931920"/>
            <a:ext cx="356616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3931920"/>
            <a:ext cx="36576" cy="20116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4069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AI 增强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4348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AI 收敛建议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智能降级策略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根因自动关联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// 08 K8S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三层纳管模型 — 避免 CI Churn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12/40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0789920" cy="13716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45720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Consolas"/>
              </a:defRPr>
            </a:pPr>
            <a:r>
              <a:t>L1 持久化 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7A8898"/>
                </a:solidFill>
                <a:latin typeface="Consolas"/>
              </a:defRPr>
            </a:pPr>
            <a:r>
              <a:t>cluster / node / namespace / deployment / service / ingress / pv / pvc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317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入库 + parent_id 建层级关系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生命周期长，变更频率低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920240"/>
            <a:ext cx="3200400" cy="73152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2057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写入 assets 表，支持拓扑查询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00400"/>
            <a:ext cx="10789920" cy="13716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45720" cy="137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Consolas"/>
              </a:defRPr>
            </a:pPr>
            <a:r>
              <a:t>L2 弱纳管 CI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6118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7A8898"/>
                </a:solidFill>
                <a:latin typeface="Consolas"/>
              </a:defRPr>
            </a:pPr>
            <a:r>
              <a:t>configmap / secret / storageclass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86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入库但只存引用关系，不存内容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合规要求：敏感数据不落盘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3474720"/>
            <a:ext cx="3200400" cy="73152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36118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存引用 + 关联，不存实际值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754880"/>
            <a:ext cx="10789920" cy="13716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754880"/>
            <a:ext cx="45720" cy="137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Consolas"/>
              </a:defRPr>
            </a:pPr>
            <a:r>
              <a:t>L3 实时视图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663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7A8898"/>
                </a:solidFill>
                <a:latin typeface="Consolas"/>
              </a:defRPr>
            </a:pPr>
            <a:r>
              <a:t>pod / replicaset / container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4406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不入库，聚合到工作负载 pod_summary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高频变更，避免 CI Churn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5029200"/>
            <a:ext cx="3200400" cy="73152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79" y="5166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实时查询 K8s API，聚合展示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669280"/>
            <a:ext cx="10789920" cy="640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0080" y="5715000"/>
            <a:ext cx="10424160" cy="54864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0644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K8s API Client: kubernetes 36.0.2 | _sync_k8s_asset() 批量同步 | _k8s_safe_name() 净化下划线 | ownerReferences 建层级 | 17种严重reason自动转告警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// 09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自愈 · Runbook · 脚本 · 变更 · SOP 工作流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13/40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356616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356616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自愈规则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0D9488"/>
                </a:solidFill>
                <a:latin typeface="Consolas"/>
              </a:defRPr>
            </a:pPr>
            <a:r>
              <a:t>remediation_service.py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231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告警触发 → 条件匹配 → 动作编排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多步骤工作流 + 幂等重试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645920"/>
            <a:ext cx="356616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645920"/>
            <a:ext cx="356616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783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Runbook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1031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3B82F6"/>
                </a:solidFill>
                <a:latin typeface="Consolas"/>
              </a:defRPr>
            </a:pPr>
            <a:r>
              <a:t>runbooks.py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4231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运维手册模板化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步骤化排障指引 + 智能推荐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645920"/>
            <a:ext cx="356616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645920"/>
            <a:ext cx="356616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783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远程脚本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1031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DC2626"/>
                </a:solidFill>
                <a:latin typeface="Consolas"/>
              </a:defRPr>
            </a:pPr>
            <a:r>
              <a:t>script_exec.py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4231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SSH 批量执行 + 危险命令过滤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18 种模式匹配 + 操作审计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931920"/>
            <a:ext cx="356616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931920"/>
            <a:ext cx="356616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069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蓝绿/金丝雀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3891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D97706"/>
                </a:solidFill>
                <a:latin typeface="Consolas"/>
              </a:defRPr>
            </a:pPr>
            <a:r>
              <a:t>blue_green.py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7091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K8s Deployment Service 切换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API Client → k8s_safe_name → 回滚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3931920"/>
            <a:ext cx="356616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51960" y="3931920"/>
            <a:ext cx="356616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4069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变更审批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43891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C3AED"/>
                </a:solidFill>
                <a:latin typeface="Consolas"/>
              </a:defRPr>
            </a:pPr>
            <a:r>
              <a:t>change_workflow.py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47091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审批链 + 状态机 + 并发锁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api_task_new 检查 change_id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3931920"/>
            <a:ext cx="356616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0" y="3931920"/>
            <a:ext cx="356616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4069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SOP 工作流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3891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4F46E5"/>
                </a:solidFill>
                <a:latin typeface="Consolas"/>
              </a:defRPr>
            </a:pPr>
            <a:r>
              <a:t>workflow_service.py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7091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DAG 节点编排 + 条件分支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只读自动 / 写操作人工确认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// 10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六重安全防护 + 审计追踪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14/40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356616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36576" cy="2011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A2333"/>
                </a:solidFill>
                <a:latin typeface="Consolas"/>
              </a:defRPr>
            </a:pPr>
            <a:r>
              <a:t>S1-S3  认证加密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bcrypt 加盐哈希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环境变量集中管理密钥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Session cookie-based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645920"/>
            <a:ext cx="356616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645920"/>
            <a:ext cx="36576" cy="20116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783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A2333"/>
                </a:solidFill>
                <a:latin typeface="Consolas"/>
              </a:defRPr>
            </a:pPr>
            <a:r>
              <a:t>S4  命令过滤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1488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script_exec.py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18 种危险命令模式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正则匹配拦截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356616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45920"/>
            <a:ext cx="36576" cy="2011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783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A2333"/>
                </a:solidFill>
                <a:latin typeface="Consolas"/>
              </a:defRPr>
            </a:pPr>
            <a:r>
              <a:t>S5  RBAC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1488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admin / operator / viewer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viewer 禁止写操作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中间件校验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31920"/>
            <a:ext cx="356616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931920"/>
            <a:ext cx="36576" cy="2011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069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A2333"/>
                </a:solidFill>
                <a:latin typeface="Consolas"/>
              </a:defRPr>
            </a:pPr>
            <a:r>
              <a:t>S7  限流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4348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slowapi 全局 1000/min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登录 10/min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reset-password 受限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3931920"/>
            <a:ext cx="356616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1960" y="3931920"/>
            <a:ext cx="36576" cy="2011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4069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A2333"/>
                </a:solidFill>
                <a:latin typeface="Consolas"/>
              </a:defRPr>
            </a:pPr>
            <a:r>
              <a:t>S9  审计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4348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全操作日志记录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tool_invocations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pending_actions 追踪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931920"/>
            <a:ext cx="356616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3931920"/>
            <a:ext cx="36576" cy="20116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4069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A2333"/>
                </a:solidFill>
                <a:latin typeface="Consolas"/>
              </a:defRPr>
            </a:pPr>
            <a:r>
              <a:t>S11-S12  安全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4348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上传 MIME 验证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Milvus filter 注入转义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SSH RejectPolicy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669280"/>
            <a:ext cx="11247120" cy="640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4A5868"/>
                </a:solidFill>
                <a:latin typeface="Consolas"/>
              </a:defRPr>
            </a:pPr>
            <a:r>
              <a:t>商业化六重防破解: RSA 签名 → 机器指纹绑定 → 时钟防回拨 → License 有效期 → 版本锁定 → 离线验证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// 11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三端部署 + 一键脚本 + 生产环境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15/40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6400800" cy="4572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请求路由架构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5943600" cy="384048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# FastAPI 路由分发 (main.py)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Browser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  ├── GET /          → Vue SPA (frontend/dist/)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  ├── GET /login     → auth.py → _serve_vue()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  ├── GET /assets/   → StaticFiles (mobile+frontend)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  ├── GET /mobile-app → UniApp H5 构建产物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  ├── GET /metrics   → Jinja2 iframe 内嵌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  │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  └── /api/*         → REST API (81 路由)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       ├── /api/auth/*       认证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       ├── /api/alerts/*     告警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       ├── /api/assets/*     资产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       ├── /api/agent/*      AI Agent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       ├── /api/sre/*        SRE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       └── /api/workflow/*   工作流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# 双数据库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DEMO_DB → db/demo.db (种子数据)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REAL_DB → db/aiops.db (生产数据)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645920"/>
            <a:ext cx="4572000" cy="21031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1783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一键部署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194560"/>
            <a:ext cx="4114800" cy="13716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60" y="2286000"/>
            <a:ext cx="3840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python tools/deploy.py all       # 全部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python tools/deploy.py backend   # 后端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python tools/deploy.py frontend  # 前端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python tools/deploy.py mobile    # 移动端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# 服务器部署 (39.96.51.45)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git push → SSH 拉取 → 构建 → 重启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3931920"/>
            <a:ext cx="4572000" cy="2286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4069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性能与监控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4434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A8898"/>
                </a:solidFill>
                <a:latin typeface="Consolas"/>
              </a:defRPr>
            </a:pPr>
            <a:r>
              <a:t>启动时间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44348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4A5868"/>
                </a:solidFill>
                <a:latin typeface="Consolas"/>
              </a:defRPr>
            </a:pPr>
            <a:r>
              <a:t>uvicorn cold start &lt; 3s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681727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A8898"/>
                </a:solidFill>
                <a:latin typeface="Consolas"/>
              </a:defRPr>
            </a:pPr>
            <a:r>
              <a:t>API 延迟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4681727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4A5868"/>
                </a:solidFill>
                <a:latin typeface="Consolas"/>
              </a:defRPr>
            </a:pPr>
            <a:r>
              <a:t>P95 &lt; 200ms (本地)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92861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A8898"/>
                </a:solidFill>
                <a:latin typeface="Consolas"/>
              </a:defRPr>
            </a:pPr>
            <a:r>
              <a:t>前端初始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492861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4A5868"/>
                </a:solidFill>
                <a:latin typeface="Consolas"/>
              </a:defRPr>
            </a:pPr>
            <a:r>
              <a:t>~200KB (代码分割后)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517550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A8898"/>
                </a:solidFill>
                <a:latin typeface="Consolas"/>
              </a:defRPr>
            </a:pPr>
            <a:r>
              <a:t>DB 连接池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517550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4A5868"/>
                </a:solidFill>
                <a:latin typeface="Consolas"/>
              </a:defRPr>
            </a:pPr>
            <a:r>
              <a:t>pool_pre_ping + recycle=3600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54223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A8898"/>
                </a:solidFill>
                <a:latin typeface="Consolas"/>
              </a:defRPr>
            </a:pPr>
            <a:r>
              <a:t>并发处理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542239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4A5868"/>
                </a:solidFill>
                <a:latin typeface="Consolas"/>
              </a:defRPr>
            </a:pPr>
            <a:r>
              <a:t>ThreadPoolExecutor(5)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566927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A8898"/>
                </a:solidFill>
                <a:latin typeface="Consolas"/>
              </a:defRPr>
            </a:pPr>
            <a:r>
              <a:t>健康检查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566927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4A5868"/>
                </a:solidFill>
                <a:latin typeface="Consolas"/>
              </a:defRPr>
            </a:pPr>
            <a:r>
              <a:t>/healthz + /readyz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59161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A8898"/>
                </a:solidFill>
                <a:latin typeface="Consolas"/>
              </a:defRPr>
            </a:pPr>
            <a:r>
              <a:t>缓存策略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591616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4A5868"/>
                </a:solidFill>
                <a:latin typeface="Consolas"/>
              </a:defRPr>
            </a:pPr>
            <a:r>
              <a:t>@cached(ttl=15)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// 12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147 个 E2E 测试 · 24 个测试文件 · 6 大覆盖域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16/40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5486400" cy="4572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测试文件分布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3B82F6"/>
                </a:solidFill>
                <a:latin typeface="Consolas"/>
              </a:defRPr>
            </a:pPr>
            <a:r>
              <a:t>tests/ 根目录  8 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1945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单元 + 集成测试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0D9488"/>
                </a:solidFill>
                <a:latin typeface="Consolas"/>
              </a:defRPr>
            </a:pPr>
            <a:r>
              <a:t>tests/e2e/  16 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514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端到端场景测试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3463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C3AED"/>
                </a:solidFill>
                <a:latin typeface="Consolas"/>
              </a:defRPr>
            </a:pPr>
            <a:r>
              <a:t>功能测试/  3 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8346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手动功能验证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474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1A2333"/>
                </a:solidFill>
                <a:latin typeface="Consolas"/>
              </a:defRPr>
            </a:pPr>
            <a:r>
              <a:t>覆盖域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4747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0080" y="37947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3B82F6"/>
                </a:solidFill>
                <a:latin typeface="Consolas"/>
              </a:defRPr>
            </a:pPr>
            <a:r>
              <a:t>test_core.py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7947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核心功能 (认证/路由)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1148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0D9488"/>
                </a:solidFill>
                <a:latin typeface="Consolas"/>
              </a:defRPr>
            </a:pPr>
            <a:r>
              <a:t>test_integration.py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1148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集成测试 (全链路)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34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DC2626"/>
                </a:solidFill>
                <a:latin typeface="Consolas"/>
              </a:defRPr>
            </a:pPr>
            <a:r>
              <a:t>test_alerts_anomaly.py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4348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告警 + 7种异常检测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5487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C3AED"/>
                </a:solidFill>
                <a:latin typeface="Consolas"/>
              </a:defRPr>
            </a:pPr>
            <a:r>
              <a:t>test_analysis.py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475487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6种根因分析算法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0749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4F46E5"/>
                </a:solidFill>
                <a:latin typeface="Consolas"/>
              </a:defRPr>
            </a:pPr>
            <a:r>
              <a:t>test_assets_cmdb.py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5074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资产管理 + CMDB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394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D97706"/>
                </a:solidFill>
                <a:latin typeface="Consolas"/>
              </a:defRPr>
            </a:pPr>
            <a:r>
              <a:t>test_automation.py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5394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自愈 + Runbook + 变更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7150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3B82F6"/>
                </a:solidFill>
                <a:latin typeface="Consolas"/>
              </a:defRPr>
            </a:pPr>
            <a:r>
              <a:t>test_containers_k8s.py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57150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容器 + K8s 三层纳管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1645920"/>
            <a:ext cx="5486400" cy="4572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783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E2E 场景覆盖 (Playwright)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1945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认证流程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21945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登录/登出/Token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21945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仪表盘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21945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页面加载/数据渲染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2834639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告警管理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283463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创建/确认/解决/风暴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2834639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资产 CRUD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283463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创建/编辑/删除/筛选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34747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资产连接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0" y="34747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SSH/K8s 连接测试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34747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指标监控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34747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采集/展示/预测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41148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K8s 场景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89520" y="41148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集群/部署/Pod 管理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0" y="41148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AI Agent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41148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对话/工具调用/审计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4754879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AI 提供商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89520" y="475487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配置/连通性测试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0" y="4754879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系统场景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41280" y="475487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用户/设置/菜单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53949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Bug 修复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89520" y="5394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回归验证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52560" y="53949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真实验证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41280" y="5394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端到端冒烟测试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// SRE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SLO · Error Budget · Burn Rate · 值班 · 升级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17/40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356616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36576" cy="2011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SLO 配置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slo_configs 表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服务级目标管理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窗口期可配置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达成率追踪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645920"/>
            <a:ext cx="356616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645920"/>
            <a:ext cx="36576" cy="2011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783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Error Budget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1488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error_budgets 表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健康/警告/严重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超预算限制变更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趋势可视化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356616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45920"/>
            <a:ext cx="36576" cy="20116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783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Burn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1488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1h/6h/24h 多窗口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消耗速率预警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趋势折线图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31920"/>
            <a:ext cx="356616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931920"/>
            <a:ext cx="36576" cy="2011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069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SLA 协议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4348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sla_configs 表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达成率计算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处罚规则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运行/停机统计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3931920"/>
            <a:ext cx="356616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1960" y="3931920"/>
            <a:ext cx="36576" cy="2011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4069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值班管理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4348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oncall_schedules 表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周/月轮值排班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当前值班状态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通知分派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931920"/>
            <a:ext cx="356616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3931920"/>
            <a:ext cx="36576" cy="20116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4069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升级策略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4348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escalation_policies 表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多级别升级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等待时间配置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通知渠道联动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// KNOWLEDGE &amp;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知识库 RAG + 容量预测 + 智能推荐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18/40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5486400" cy="4572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知识库系统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5029200" cy="384048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# 双模式检索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BM25 模式 (rank-bm25)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  → 内存缓存 TTL=300s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  → 全表扫描优化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RAG V2 语义模式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  → BGE-small-zh-v1.5 (512维)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  → Milvus Lite 向量存储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  → smart_chunk 合并小段落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  → batch_size=32 批量编码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# 知识图谱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knowledge_graph_service.py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  → covers / relates_to 关系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  → D3.js 力导向可视化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# AI 集成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query_knowledge_rag MCP 工具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  → Agent 自动调用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486400" cy="21031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5 种预测模型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2860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Linear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5603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Microsoft YaHei"/>
              </a:defRPr>
            </a:pPr>
            <a:r>
              <a:t>线性回归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2860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0D9488"/>
                </a:solidFill>
                <a:latin typeface="Consolas"/>
              </a:defRPr>
            </a:pPr>
            <a:r>
              <a:t>ARIMA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5603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Microsoft YaHei"/>
              </a:defRPr>
            </a:pPr>
            <a:r>
              <a:t>时序分析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2860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7C3AED"/>
                </a:solidFill>
                <a:latin typeface="Consolas"/>
              </a:defRPr>
            </a:pPr>
            <a:r>
              <a:t>Polynomial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5603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Microsoft YaHei"/>
              </a:defRPr>
            </a:pPr>
            <a:r>
              <a:t>多项式拟合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2860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D97706"/>
                </a:solidFill>
                <a:latin typeface="Consolas"/>
              </a:defRPr>
            </a:pPr>
            <a:r>
              <a:t>Rolling Avg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5603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Microsoft YaHei"/>
              </a:defRPr>
            </a:pPr>
            <a:r>
              <a:t>滑动平均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22860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4F46E5"/>
                </a:solidFill>
                <a:latin typeface="Consolas"/>
              </a:defRPr>
            </a:pPr>
            <a:r>
              <a:t>Prophet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25603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Microsoft YaHei"/>
              </a:defRPr>
            </a:pPr>
            <a:r>
              <a:t>趋势分解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931920"/>
            <a:ext cx="5486400" cy="2286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069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智能推荐引擎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480560"/>
            <a:ext cx="5029200" cy="155448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57200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# 智能推荐多源融合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规则推荐 (权重 0.6)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  + RAG 语义推荐 (权重 0.4)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  → 排名归一化融合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# 特征仓库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feature_store.py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  → 32 个动态指标</a:t>
            </a:r>
          </a:p>
          <a:p>
            <a:pPr>
              <a:spcAft>
                <a:spcPts val="100"/>
              </a:spcAft>
              <a:defRPr sz="900">
                <a:solidFill>
                  <a:srgbClr val="A8B2C1"/>
                </a:solidFill>
                <a:latin typeface="Consolas"/>
              </a:defRPr>
            </a:pPr>
            <a:r>
              <a:t>  → 异常检测输入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//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性能优化清单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19/40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356616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356616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数据库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• 12 个索引 (metric_records/alerts/k8s_events...)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• pool_pre_ping + pool_recycle=3600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• WAL 模式并发读写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• metric_records 90天归档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645920"/>
            <a:ext cx="356616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645920"/>
            <a:ext cx="356616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783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缓存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1488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• @cached(ttl=15) 装饰器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• BM25 内存缓存 TTL=300s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• cachetools 全局缓存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356616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45920"/>
            <a:ext cx="356616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783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前端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1488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• 3.26MB → 70+ chunks (代码分割)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• 初始加载 ~200KB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• 懒加载路由 + defineAsyncComponent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• ECharts 按需引入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31920"/>
            <a:ext cx="356616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931920"/>
            <a:ext cx="356616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069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并发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4348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• ThreadPoolExecutor(max_workers=5)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• asyncio.to_thread 异步编码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• 后台线程 (告警检查/索引)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3931920"/>
            <a:ext cx="356616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1960" y="3931920"/>
            <a:ext cx="356616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4069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日志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4348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• loguru 结构化日志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• 替换 30 处 print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• 异常栈追踪 + 上下文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931920"/>
            <a:ext cx="356616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3931920"/>
            <a:ext cx="356616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4069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安全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4348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• slowapi 限流 (1000/min)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• SSH RejectPolicy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• 上传 MIME 验证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• filter 注入转义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// ARCHITECTURE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关键技术选型与架构决策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20/40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5486400" cy="105156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36576" cy="1051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A2333"/>
                </a:solidFill>
                <a:latin typeface="Consolas"/>
              </a:defRPr>
            </a:pPr>
            <a:r>
              <a:t>SQLite + WAL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轻量部署 / 单机场景 / Demo 模式 / 零运维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A8898"/>
                </a:solidFill>
                <a:latin typeface="Consolas"/>
              </a:defRPr>
            </a:pPr>
            <a:r>
              <a:t>→ 可替换 PostgreSQL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5486400" cy="105156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645920"/>
            <a:ext cx="36576" cy="1051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737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A2333"/>
                </a:solidFill>
                <a:latin typeface="Consolas"/>
              </a:defRPr>
            </a:pPr>
            <a:r>
              <a:t>FastAPI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574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异步原生 / 自动 OpenAPI / 类型安全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7744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A8898"/>
                </a:solidFill>
                <a:latin typeface="Consolas"/>
              </a:defRPr>
            </a:pPr>
            <a:r>
              <a:t>→ 比 Django 轻 3 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834640"/>
            <a:ext cx="5486400" cy="105156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834640"/>
            <a:ext cx="36576" cy="1051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926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A2333"/>
                </a:solidFill>
                <a:latin typeface="Consolas"/>
              </a:defRPr>
            </a:pPr>
            <a:r>
              <a:t>Vue 3 + Vite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246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组合式 API / HMR / 代码分割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5661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A8898"/>
                </a:solidFill>
                <a:latin typeface="Consolas"/>
              </a:defRPr>
            </a:pPr>
            <a:r>
              <a:t>→ 比 React 更轻量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834640"/>
            <a:ext cx="5486400" cy="105156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834640"/>
            <a:ext cx="36576" cy="10515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926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A2333"/>
                </a:solidFill>
                <a:latin typeface="Consolas"/>
              </a:defRPr>
            </a:pPr>
            <a:r>
              <a:t>BGE-small-zh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246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中文优化 / 512维 / CPU 可用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5661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A8898"/>
                </a:solidFill>
                <a:latin typeface="Consolas"/>
              </a:defRPr>
            </a:pPr>
            <a:r>
              <a:t>→ 比 BGE-M3 快 10 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023360"/>
            <a:ext cx="5486400" cy="105156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023360"/>
            <a:ext cx="36576" cy="1051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114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A2333"/>
                </a:solidFill>
                <a:latin typeface="Consolas"/>
              </a:defRPr>
            </a:pPr>
            <a:r>
              <a:t>Milvus Lite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4348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嵌入式向量库 / 零部署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75488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A8898"/>
                </a:solidFill>
                <a:latin typeface="Consolas"/>
              </a:defRPr>
            </a:pPr>
            <a:r>
              <a:t>→ 生产可替换 Milvus Cluster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023360"/>
            <a:ext cx="5486400" cy="105156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4023360"/>
            <a:ext cx="36576" cy="1051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114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A2333"/>
                </a:solidFill>
                <a:latin typeface="Consolas"/>
              </a:defRPr>
            </a:pPr>
            <a:r>
              <a:t>MCP 协议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4348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标准化工具调用 / LLM 解耦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75488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A8898"/>
                </a:solidFill>
                <a:latin typeface="Consolas"/>
              </a:defRPr>
            </a:pPr>
            <a:r>
              <a:t>→ 比 Function Calling 更通用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212080"/>
            <a:ext cx="5486400" cy="105156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5212080"/>
            <a:ext cx="36576" cy="1051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303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A2333"/>
                </a:solidFill>
                <a:latin typeface="Consolas"/>
              </a:defRPr>
            </a:pPr>
            <a:r>
              <a:t>三层纳管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6235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避免 CI Churn / 分层存储策略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9436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A8898"/>
                </a:solidFill>
                <a:latin typeface="Consolas"/>
              </a:defRPr>
            </a:pPr>
            <a:r>
              <a:t>→ 比全量入库省 70% 写入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5212080"/>
            <a:ext cx="5486400" cy="105156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5212080"/>
            <a:ext cx="36576" cy="1051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5303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A2333"/>
                </a:solidFill>
                <a:latin typeface="Consolas"/>
              </a:defRPr>
            </a:pPr>
            <a:r>
              <a:t>双库模式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56235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Demo/Real 自动切换 / 演示不影响生产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9436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A8898"/>
                </a:solidFill>
                <a:latin typeface="Consolas"/>
              </a:defRPr>
            </a:pPr>
            <a:r>
              <a:t>→ 零配置开箱即用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数据库 ER 图 — 30+ 表关系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21/40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1247120" cy="457200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7A8898"/>
                </a:solidFill>
                <a:latin typeface="Microsoft YaHei"/>
              </a:defRPr>
            </a:pPr>
            <a:r>
              <a:t>[ 此处放置 数据库 ER 图 截图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7A8898"/>
                </a:solidFill>
                <a:latin typeface="Microsoft YaHei"/>
              </a:defRPr>
            </a:pPr>
            <a:r>
              <a:t>30+ 表关系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API 文档 — OpenAPI / Swagger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22/40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1247120" cy="457200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7A8898"/>
                </a:solidFill>
                <a:latin typeface="Microsoft YaHei"/>
              </a:defRPr>
            </a:pPr>
            <a:r>
              <a:t>[ 此处放置 API 文档 截图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7A8898"/>
                </a:solidFill>
                <a:latin typeface="Microsoft YaHei"/>
              </a:defRPr>
            </a:pPr>
            <a:r>
              <a:t>OpenAPI / Swagger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Agent 工作流画布 — Vue Flow DAG 编排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23/40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1247120" cy="457200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7A8898"/>
                </a:solidFill>
                <a:latin typeface="Microsoft YaHei"/>
              </a:defRPr>
            </a:pPr>
            <a:r>
              <a:t>[ 此处放置 Agent 工作流画布 截图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7A8898"/>
                </a:solidFill>
                <a:latin typeface="Microsoft YaHei"/>
              </a:defRPr>
            </a:pPr>
            <a:r>
              <a:t>Vue Flow DAG 编排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RCA 算法结果 — 6 种算法输出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24/40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1247120" cy="457200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7A8898"/>
                </a:solidFill>
                <a:latin typeface="Microsoft YaHei"/>
              </a:defRPr>
            </a:pPr>
            <a:r>
              <a:t>[ 此处放置 RCA 算法结果 截图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7A8898"/>
                </a:solidFill>
                <a:latin typeface="Microsoft YaHei"/>
              </a:defRPr>
            </a:pPr>
            <a:r>
              <a:t>6 种算法输出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告警风暴检测 — 实时看板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25/40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1247120" cy="457200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7A8898"/>
                </a:solidFill>
                <a:latin typeface="Microsoft YaHei"/>
              </a:defRPr>
            </a:pPr>
            <a:r>
              <a:t>[ 此处放置 告警风暴检测 截图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7A8898"/>
                </a:solidFill>
                <a:latin typeface="Microsoft YaHei"/>
              </a:defRPr>
            </a:pPr>
            <a:r>
              <a:t>实时看板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K8s 拓扑 — 三层纳管视图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26/40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1247120" cy="457200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7A8898"/>
                </a:solidFill>
                <a:latin typeface="Microsoft YaHei"/>
              </a:defRPr>
            </a:pPr>
            <a:r>
              <a:t>[ 此处放置 K8s 拓扑 截图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7A8898"/>
                </a:solidFill>
                <a:latin typeface="Microsoft YaHei"/>
              </a:defRPr>
            </a:pPr>
            <a:r>
              <a:t>三层纳管视图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自愈工作流 — 多步骤自动修复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27/40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1247120" cy="457200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7A8898"/>
                </a:solidFill>
                <a:latin typeface="Microsoft YaHei"/>
              </a:defRPr>
            </a:pPr>
            <a:r>
              <a:t>[ 此处放置 自愈工作流 截图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7A8898"/>
                </a:solidFill>
                <a:latin typeface="Microsoft YaHei"/>
              </a:defRPr>
            </a:pPr>
            <a:r>
              <a:t>多步骤自动修复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知识图谱 — D3.js 力导向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28/40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1247120" cy="457200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7A8898"/>
                </a:solidFill>
                <a:latin typeface="Microsoft YaHei"/>
              </a:defRPr>
            </a:pPr>
            <a:r>
              <a:t>[ 此处放置 知识图谱 截图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7A8898"/>
                </a:solidFill>
                <a:latin typeface="Microsoft YaHei"/>
              </a:defRPr>
            </a:pPr>
            <a:r>
              <a:t>D3.js 力导向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SRE 面板 — Error Budget + 热力图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29/40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1247120" cy="457200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7A8898"/>
                </a:solidFill>
                <a:latin typeface="Microsoft YaHei"/>
              </a:defRPr>
            </a:pPr>
            <a:r>
              <a:t>[ 此处放置 SRE 面板 截图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7A8898"/>
                </a:solidFill>
                <a:latin typeface="Microsoft YaHei"/>
              </a:defRPr>
            </a:pPr>
            <a:r>
              <a:t>Error Budget + 热力图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移动端 API — UniApp H5 接口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30/40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1247120" cy="457200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7A8898"/>
                </a:solidFill>
                <a:latin typeface="Microsoft YaHei"/>
              </a:defRPr>
            </a:pPr>
            <a:r>
              <a:t>[ 此处放置 移动端 API 截图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7A8898"/>
                </a:solidFill>
                <a:latin typeface="Microsoft YaHei"/>
              </a:defRPr>
            </a:pPr>
            <a:r>
              <a:t>UniApp H5 接口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// MVP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8 阶段 MVP 路线 — 全部已完成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31/40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269748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26974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3B82F6"/>
                </a:solidFill>
                <a:latin typeface="Consolas"/>
              </a:defRPr>
            </a:pPr>
            <a:r>
              <a:t>P1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数据采集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688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基础告警 + 简单看板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17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0D9488"/>
                </a:solidFill>
                <a:latin typeface="Consolas"/>
              </a:defRPr>
            </a:pPr>
            <a:r>
              <a:t>COMPLETED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645920"/>
            <a:ext cx="269748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645920"/>
            <a:ext cx="269748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783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0D9488"/>
                </a:solidFill>
                <a:latin typeface="Consolas"/>
              </a:defRPr>
            </a:pPr>
            <a:r>
              <a:t>P2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14884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异常检测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4688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告警收敛 + CMDB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017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0D9488"/>
                </a:solidFill>
                <a:latin typeface="Consolas"/>
              </a:defRPr>
            </a:pPr>
            <a:r>
              <a:t>COMPLETED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645920"/>
            <a:ext cx="269748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645920"/>
            <a:ext cx="269748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783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7C3AED"/>
                </a:solidFill>
                <a:latin typeface="Consolas"/>
              </a:defRPr>
            </a:pPr>
            <a:r>
              <a:t>P3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14884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根因分析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688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调用链 + 拓扑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017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0D9488"/>
                </a:solidFill>
                <a:latin typeface="Consolas"/>
              </a:defRPr>
            </a:pPr>
            <a:r>
              <a:t>COMPLETED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1645920"/>
            <a:ext cx="269748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98280" y="1645920"/>
            <a:ext cx="269748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1783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F46E5"/>
                </a:solidFill>
                <a:latin typeface="Consolas"/>
              </a:defRPr>
            </a:pPr>
            <a:r>
              <a:t>P4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214884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容器采集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24688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容器看板 + 多集群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3017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0D9488"/>
                </a:solidFill>
                <a:latin typeface="Consolas"/>
              </a:defRPr>
            </a:pPr>
            <a:r>
              <a:t>COMPLETED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931920"/>
            <a:ext cx="269748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3931920"/>
            <a:ext cx="269748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069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D97706"/>
                </a:solidFill>
                <a:latin typeface="Consolas"/>
              </a:defRPr>
            </a:pPr>
            <a:r>
              <a:t>P5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43484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容器控制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7548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HPA + ConfigMap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303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0D9488"/>
                </a:solidFill>
                <a:latin typeface="Consolas"/>
              </a:defRPr>
            </a:pPr>
            <a:r>
              <a:t>COMPLETED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37560" y="3931920"/>
            <a:ext cx="269748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337560" y="3931920"/>
            <a:ext cx="269748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20440" y="4069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DC2626"/>
                </a:solidFill>
                <a:latin typeface="Consolas"/>
              </a:defRPr>
            </a:pPr>
            <a:r>
              <a:t>P6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0440" y="443484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发版引擎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0440" y="47548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蓝绿 + 金丝雀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20440" y="5303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0D9488"/>
                </a:solidFill>
                <a:latin typeface="Consolas"/>
              </a:defRPr>
            </a:pPr>
            <a:r>
              <a:t>COMPLETED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3931920"/>
            <a:ext cx="269748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17920" y="3931920"/>
            <a:ext cx="26974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4069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3B82F6"/>
                </a:solidFill>
                <a:latin typeface="Consolas"/>
              </a:defRPr>
            </a:pPr>
            <a:r>
              <a:t>P7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443484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预测+知识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47548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故障预测 + 知识库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5303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0D9488"/>
                </a:solidFill>
                <a:latin typeface="Consolas"/>
              </a:defRPr>
            </a:pPr>
            <a:r>
              <a:t>COMPLETED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98280" y="3931920"/>
            <a:ext cx="269748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098280" y="3931920"/>
            <a:ext cx="269748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81160" y="4069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0D9488"/>
                </a:solidFill>
                <a:latin typeface="Consolas"/>
              </a:defRPr>
            </a:pPr>
            <a:r>
              <a:t>P8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81160" y="443484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智能编排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81160" y="47548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ChatOps + 自动化自愈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81160" y="5303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0D9488"/>
                </a:solidFill>
                <a:latin typeface="Consolas"/>
              </a:defRPr>
            </a:pPr>
            <a:r>
              <a:t>COMPLETED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// 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未来技术演进方向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32/40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356616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356616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数据库迁移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SQLite → PostgreSQL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支持多实例部署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读写分离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645920"/>
            <a:ext cx="356616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645920"/>
            <a:ext cx="356616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783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容器化部署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1488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Docker Compose 编排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K8s Helm Chart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CI/CD 自动化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356616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45920"/>
            <a:ext cx="356616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783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分布式追踪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1488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OTLP 原生接入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Jaeger/Zipkin 集成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全链路拓扑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31920"/>
            <a:ext cx="356616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931920"/>
            <a:ext cx="356616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069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高级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4348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GPT-4/Claude 多模型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Agent 自主规划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多 Agent 协作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3931920"/>
            <a:ext cx="356616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1960" y="3931920"/>
            <a:ext cx="356616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4069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可观测性增强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4348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OpenTelemetry 统一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eBPF 内核级监控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Service Mesh 深度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931920"/>
            <a:ext cx="356616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3931920"/>
            <a:ext cx="356616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4069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企业级特性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4348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多租户隔离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LDAP/SSO 集成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审计合规报告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418320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94183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000" b="1">
                <a:solidFill>
                  <a:srgbClr val="1A2333"/>
                </a:solidFill>
                <a:latin typeface="Arial"/>
              </a:defRPr>
            </a:pPr>
            <a:r>
              <a:t>Ready to Build?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8346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4A5868"/>
                </a:solidFill>
                <a:latin typeface="Microsoft YaHei"/>
              </a:defRPr>
            </a:pPr>
            <a:r>
              <a:t>175 个模块 · 147 个测试 · 全部开源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3B82F6"/>
                </a:solidFill>
                <a:latin typeface="Consolas"/>
              </a:defRPr>
            </a:pPr>
            <a:r>
              <a:t>github.com/ZF1411945427/AIOPS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976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7A8898"/>
                </a:solidFill>
                <a:latin typeface="Microsoft YaHei"/>
              </a:defRPr>
            </a:pPr>
            <a:r>
              <a:t>Apache License 2.0 · Python 3.13 · Vue 3 · FastAPI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Technical Deep Dive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33/40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5200" b="1">
                <a:solidFill>
                  <a:srgbClr val="1A2333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108960"/>
            <a:ext cx="2743200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400" b="1">
                <a:solidFill>
                  <a:srgbClr val="1A2333"/>
                </a:solidFill>
                <a:latin typeface="Arial"/>
              </a:defRPr>
            </a:pPr>
            <a:r>
              <a:t>AIOps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4A5868"/>
                </a:solidFill>
                <a:latin typeface="Microsoft YaHei"/>
              </a:defRPr>
            </a:pPr>
            <a:r>
              <a:t>175 模块 · 97 组件 · 81 路由 · 147 测试 · 6 算法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Technical Deep Dive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34/40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