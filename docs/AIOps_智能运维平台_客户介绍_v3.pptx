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A2333"/>
                </a:solidFill>
                <a:latin typeface="Arial"/>
              </a:defRPr>
            </a:pPr>
            <a:r>
              <a:t>AIOps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智能运维体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3B82F6"/>
                </a:solidFill>
                <a:latin typeface="Consolas"/>
              </a:defRPr>
            </a:pPr>
            <a:r>
              <a:t>// MCP 协议原生 · 大模型驱动 · 双工作流引擎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1A2333"/>
                </a:solidFill>
                <a:latin typeface="Microsoft YaHei"/>
              </a:defRPr>
            </a:pPr>
            <a:r>
              <a:t>让运维拥有判断力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4A5868"/>
                </a:solidFill>
                <a:latin typeface="Microsoft YaHei"/>
              </a:defRPr>
            </a:pPr>
            <a:r>
              <a:t>不只是监控告警，而是会思考、会决策、会执行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AIOps 把大语言模型、MCP 工具协议、可视化编排三者焊在一起——让运维从"人盯着看"进化为"智能体替你想、替你做"。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011680" cy="502920"/>
          </a:xfrm>
          <a:prstGeom prst="round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62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立即体验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389120"/>
            <a:ext cx="20116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4622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查看能力矩阵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097280"/>
            <a:ext cx="4846320" cy="41148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1234440"/>
            <a:ext cx="4572000" cy="3840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核心支付系统 · 实时态势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444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● 健康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874520"/>
            <a:ext cx="42062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1031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1A2333"/>
                </a:solidFill>
                <a:latin typeface="Arial"/>
              </a:defRPr>
            </a:pPr>
            <a:r>
              <a:t>99.8%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健康分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1031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3B82F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活跃告警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031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7A889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未关闭事件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1031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1A2333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651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资产总数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4572000"/>
            <a:ext cx="45720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6634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SLA 99.8% · 系统平稳运行中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1/45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3B82F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痛点与方案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客户面临的核心挑战与应对策略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0D948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六大能力域完整产品图谱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7C3AE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60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能力矩阵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五大领域协同的全景能力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D97706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编排引擎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可视化 DAG 工作流编排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02336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AI Agent 管道、数据层、安全设计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02336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0D948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754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客户价值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预期收益量化与适用场景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6217920"/>
            <a:ext cx="329184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0">
                <a:solidFill>
                  <a:srgbClr val="3B82F6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6949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实施与服务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7315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分阶段交付与服务保障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客户痛点分析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我们不做又一个仪表盘，我们解决真正的问题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1031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1A2333"/>
                </a:solidFill>
                <a:latin typeface="Microsoft YaHei"/>
              </a:defRPr>
            </a:pPr>
            <a:r>
              <a:t>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监控碎片化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3756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日志/指标/告警/K8s 散落在 N 个系统，运维人员每天在多个平台间来回切换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1A233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排查低效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33756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故障排查靠经验翻文档，MTTR（平均修复时间）居高不下，新人无法独立排障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031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1A2333"/>
                </a:solidFill>
                <a:latin typeface="Microsoft YaHei"/>
              </a:defRPr>
            </a:pPr>
            <a:r>
              <a:t>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告警风暴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333756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告警轰炸真假难辨，重要告警被淹没在噪音中，一天 90+ 条无效告警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645920"/>
            <a:ext cx="21031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1A2333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修复靠人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33756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发现问题→手动修复→值班被叫醒，缺乏自动化恢复能力，重复劳动多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645920"/>
            <a:ext cx="2103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600" b="0">
                <a:solidFill>
                  <a:srgbClr val="1A233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834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效果难量化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333756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5661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团队忙却难量化，缺乏 SLO/SLA 度量体系，运维价值无法体现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一条链路走完运维全流程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可观测性 → 告警 → AI 分析 → 自动化 → SRE 度量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14884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48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3B82F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2333"/>
                </a:solidFill>
                <a:latin typeface="Microsoft YaHei"/>
              </a:defRPr>
            </a:pPr>
            <a:r>
              <a:t>可观测性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指标/日志/链路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拓扑/仪表盘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828800"/>
            <a:ext cx="214884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828800"/>
            <a:ext cx="21488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0D948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560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2333"/>
                </a:solidFill>
                <a:latin typeface="Microsoft YaHei"/>
              </a:defRPr>
            </a:pPr>
            <a:r>
              <a:t>智能告警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规则/聚合/静默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风暴检测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28800"/>
            <a:ext cx="214884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1828800"/>
            <a:ext cx="21488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7C3AED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560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2333"/>
                </a:solidFill>
                <a:latin typeface="Microsoft YaHei"/>
              </a:defRPr>
            </a:pPr>
            <a:r>
              <a:t>AI 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6种根因算法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Agent 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59" y="1828800"/>
            <a:ext cx="214884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59" y="1828800"/>
            <a:ext cx="214884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39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D97706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39" y="2560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2333"/>
                </a:solidFill>
                <a:latin typeface="Microsoft YaHei"/>
              </a:defRPr>
            </a:pPr>
            <a:r>
              <a:t>自动化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39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自愈/Runbook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脚本/变更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7A889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828800"/>
            <a:ext cx="2148840" cy="2560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828800"/>
            <a:ext cx="214884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0">
                <a:solidFill>
                  <a:srgbClr val="4F46E5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256032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A2333"/>
                </a:solidFill>
                <a:latin typeface="Microsoft YaHei"/>
              </a:defRPr>
            </a:pPr>
            <a:r>
              <a:t>SRE 度量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017520"/>
            <a:ext cx="1783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SLO/Budget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值班/SLA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3B82F6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路由模块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0D94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能力域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7C3AED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E2E 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4F46E5"/>
                </a:solidFill>
                <a:latin typeface="Arial"/>
              </a:defRPr>
            </a:pPr>
            <a:r>
              <a:t>14+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MCP 工具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0D9488"/>
                </a:solidFill>
                <a:latin typeface="Arial"/>
              </a:defRPr>
            </a:pPr>
            <a:r>
              <a:t>500+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纳管资产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能力矩阵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不是五个功能的堆砌，是五个领域的协同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大多数运维平台只解决一个问题。我们把 AI 推理、可靠性管理、自动化执行、韧性验证、全栈感知拧成一根绳。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5/45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3035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438912" cy="438912"/>
          </a:xfrm>
          <a:prstGeom prst="roundRect">
            <a:avLst/>
          </a:prstGeom>
          <a:solidFill>
            <a:srgbClr val="131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4F46E5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AIOps · 智能运维体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4F46E5"/>
                </a:solidFill>
                <a:latin typeface="Consolas"/>
              </a:defRPr>
            </a:pPr>
            <a:r>
              <a:t>核心引擎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大模型不是装饰，是大脑。LLM Agent 通过 MCP 协议调用 13+ 运维工具，会查告警、会读日志、会问知识库、会下决策。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F46E5"/>
                </a:solidFill>
                <a:latin typeface="Consolas"/>
              </a:defRPr>
            </a:pPr>
            <a:r>
              <a:t>LLM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F46E5"/>
                </a:solidFill>
                <a:latin typeface="Consolas"/>
              </a:defRPr>
            </a:pPr>
            <a:r>
              <a:t>MCP 协议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F46E5"/>
                </a:solidFill>
                <a:latin typeface="Consolas"/>
              </a:defRPr>
            </a:pPr>
            <a:r>
              <a:t>根因分析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F46E5"/>
                </a:solidFill>
                <a:latin typeface="Consolas"/>
              </a:defRPr>
            </a:pPr>
            <a:r>
              <a:t>异常检测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920240"/>
            <a:ext cx="53035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39" y="2103120"/>
            <a:ext cx="438912" cy="438912"/>
          </a:xfrm>
          <a:prstGeom prst="roundRect">
            <a:avLst/>
          </a:prstGeom>
          <a:solidFill>
            <a:srgbClr val="032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39" y="21488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0D94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2121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SRE · 可靠性工程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9" y="2148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0D9488"/>
                </a:solidFill>
                <a:latin typeface="Consolas"/>
              </a:defRPr>
            </a:pPr>
            <a:r>
              <a:t>量化保障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把"系统稳不稳"从拍脑袋变成数学题。SLO 定义目标，错误预算丈量消耗，Burn Rate 预警烧钱速度。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0D9488"/>
                </a:solidFill>
                <a:latin typeface="Consolas"/>
              </a:defRPr>
            </a:pPr>
            <a:r>
              <a:t>SLO/SLA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0D9488"/>
                </a:solidFill>
                <a:latin typeface="Consolas"/>
              </a:defRPr>
            </a:pPr>
            <a:r>
              <a:t>错误预算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0D9488"/>
                </a:solidFill>
                <a:latin typeface="Consolas"/>
              </a:defRPr>
            </a:pPr>
            <a:r>
              <a:t>Burn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926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0D9488"/>
                </a:solidFill>
                <a:latin typeface="Consolas"/>
              </a:defRPr>
            </a:pPr>
            <a:r>
              <a:t>On-Call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474720"/>
            <a:ext cx="53035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3657600"/>
            <a:ext cx="438912" cy="438912"/>
          </a:xfrm>
          <a:prstGeom prst="roundRect">
            <a:avLst/>
          </a:prstGeom>
          <a:solidFill>
            <a:srgbClr val="361D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033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D9770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675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DevOps · 自愈执行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703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97706"/>
                </a:solidFill>
                <a:latin typeface="Consolas"/>
              </a:defRPr>
            </a:pPr>
            <a:r>
              <a:t>闭环修复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检测到修复不是口号，是 DAG 工作流。SOP 工作流引擎把运维剧本编排成有向无环图，只读自动跑，写操作人工确认。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97706"/>
                </a:solidFill>
                <a:latin typeface="Consolas"/>
              </a:defRPr>
            </a:pPr>
            <a:r>
              <a:t>SOP 工作流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97706"/>
                </a:solidFill>
                <a:latin typeface="Consolas"/>
              </a:defRPr>
            </a:pPr>
            <a:r>
              <a:t>自愈规则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97706"/>
                </a:solidFill>
                <a:latin typeface="Consolas"/>
              </a:defRPr>
            </a:pPr>
            <a:r>
              <a:t>蓝绿发布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97706"/>
                </a:solidFill>
                <a:latin typeface="Consolas"/>
              </a:defRPr>
            </a:pPr>
            <a:r>
              <a:t>变更审批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3474720"/>
            <a:ext cx="53035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39" y="3657600"/>
            <a:ext cx="438912" cy="438912"/>
          </a:xfrm>
          <a:prstGeom prst="roundRect">
            <a:avLst/>
          </a:prstGeom>
          <a:solidFill>
            <a:srgbClr val="37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39" y="37033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DC262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79" y="3675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混沌工程 · 韧性验证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39" y="3703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DC2626"/>
                </a:solidFill>
                <a:latin typeface="Consolas"/>
              </a:defRPr>
            </a:pPr>
            <a:r>
              <a:t>主动求败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39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与其等故障找你，不如你先找故障。主动注入 CPU/内存/网络故障，在用户感知前暴露薄弱环节。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39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C2626"/>
                </a:solidFill>
                <a:latin typeface="Consolas"/>
              </a:defRPr>
            </a:pPr>
            <a:r>
              <a:t>故障注入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C2626"/>
                </a:solidFill>
                <a:latin typeface="Consolas"/>
              </a:defRPr>
            </a:pPr>
            <a:r>
              <a:t>实验场景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C2626"/>
                </a:solidFill>
                <a:latin typeface="Consolas"/>
              </a:defRPr>
            </a:pPr>
            <a:r>
              <a:t>韧性报告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59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DC2626"/>
                </a:solidFill>
                <a:latin typeface="Consolas"/>
              </a:defRPr>
            </a:pPr>
            <a:r>
              <a:t>稳定性测试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029200"/>
            <a:ext cx="1078992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" y="5212080"/>
            <a:ext cx="438912" cy="438912"/>
          </a:xfrm>
          <a:prstGeom prst="roundRect">
            <a:avLst/>
          </a:prstGeom>
          <a:solidFill>
            <a:srgbClr val="1F0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25780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800" b="1">
                <a:solidFill>
                  <a:srgbClr val="7C3AED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2303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可观测性 · 全栈感知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2578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7C3AED"/>
                </a:solidFill>
                <a:latin typeface="Consolas"/>
              </a:defRPr>
            </a:pPr>
            <a:r>
              <a:t>证据链闭环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6235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指标、日志、链路三支柱只是起点。告警触发后 AI 自动关联指标异常、日志报错、链路断裂、拓扑变更，给出根因结论。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6035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C3AED"/>
                </a:solidFill>
                <a:latin typeface="Consolas"/>
              </a:defRPr>
            </a:pPr>
            <a:r>
              <a:t>可观测性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6035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C3AED"/>
                </a:solidFill>
                <a:latin typeface="Consolas"/>
              </a:defRPr>
            </a:pPr>
            <a:r>
              <a:t>Kubernetes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6035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C3AED"/>
                </a:solidFill>
                <a:latin typeface="Consolas"/>
              </a:defRPr>
            </a:pPr>
            <a:r>
              <a:t>CMDB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6035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C3AED"/>
                </a:solidFill>
                <a:latin typeface="Consolas"/>
              </a:defRPr>
            </a:pPr>
            <a:r>
              <a:t>知识图谱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用结果说话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已接入团队的真实数据，只承诺能复现的数字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6/45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57400"/>
            <a:ext cx="384048" cy="384048"/>
          </a:xfrm>
          <a:prstGeom prst="roundRect">
            <a:avLst/>
          </a:prstGeom>
          <a:solidFill>
            <a:srgbClr val="02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0D94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t>13min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平均故障恢复 (MTTR)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 45 分钟降到 13 分钟，AI 在告警到达前已定位根因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2057400"/>
            <a:ext cx="384048" cy="384048"/>
          </a:xfrm>
          <a:prstGeom prst="roundRect">
            <a:avLst/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3B82F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3B82F6"/>
                </a:solidFill>
                <a:latin typeface="Arial"/>
              </a:defRPr>
            </a:pPr>
            <a:r>
              <a:t>9 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日均有效告警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404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从日均 90+ 条收敛到 9 条，噪声削减 90%，不再告警疲劳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59" y="2057400"/>
            <a:ext cx="384048" cy="384048"/>
          </a:xfrm>
          <a:prstGeom prst="roundRect">
            <a:avLst/>
          </a:prstGeom>
          <a:solidFill>
            <a:srgbClr val="180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7C3AED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7C3AED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高频操作自动化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8404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重启、扩容、清理、回滚——智能体自动执行，人工只确认高风险项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057400"/>
            <a:ext cx="384048" cy="384048"/>
          </a:xfrm>
          <a:prstGeom prst="roundRect">
            <a:avLst/>
          </a:prstGeom>
          <a:solidFill>
            <a:srgbClr val="02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0D94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t>500+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纳管资产规模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4048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服务器、容器、中间件、数据库全栈统一纳管，一个平台看全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可观测性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仪表盘 · 指标 · 日志 · 链路 · 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指标、日志、链路三支柱只是起点——延伸成证据链，AI 自动关联给出根因结论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7/45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1A233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仪表盘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可配置 Dashboard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多图表组件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7x24 健康总览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82880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828800"/>
            <a:ext cx="21031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1A2333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指标监控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338328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5661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21个 SSH 采集指标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趋势预测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异常检测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82880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828800"/>
            <a:ext cx="21031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1A2333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日志管理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338328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5661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日志采集与分析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异常检测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日志聚类根因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82880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828800"/>
            <a:ext cx="2103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1A2333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链路追踪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38328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5661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OTLP 接收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Jaeger 兼容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多语言 SDK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82880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828800"/>
            <a:ext cx="210312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200" b="0">
                <a:solidFill>
                  <a:srgbClr val="1A2333"/>
                </a:solidFill>
                <a:latin typeface="Microsoft YaHei"/>
              </a:defRPr>
            </a:pPr>
            <a:r>
              <a:t>🕸️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拓扑发现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3383280"/>
            <a:ext cx="137160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56616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服务依赖拓扑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K8s 资源树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D3.js 可视化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可观测性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8/45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仪表盘页面截图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拓扑视图页面截图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告警与事件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告警管理 — 从 90+ 条收敛到 9 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9/45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4572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规则配置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灵活规则引擎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按指标/资产/条件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多级严重度 P0-P3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45720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聚合去重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相同告警合并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5分钟去重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降噪 90%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45720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风暴抑制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&gt;N条/分钟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自动抑制5分钟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维护窗口静默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4572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告警关联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因果/时序关联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自动生成故障单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K8s事件关联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114800"/>
            <a:ext cx="45720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控制台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实时看板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批量确认/解决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筛选预设保存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4114800"/>
            <a:ext cx="4572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通知渠道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钉钉/企微/邮件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Webhook/短信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自定义模板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告警管理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10/45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告警控制台截图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告警规则配置截图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根因分析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6种算法引擎 — 从海量数据中精准定位根因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11/45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47472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PageRank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F46E5"/>
                </a:solidFill>
                <a:latin typeface="Consolas"/>
              </a:defRPr>
            </a:pPr>
            <a:r>
              <a:t>拓扑排序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故障传播链定位关键节点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3474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Granger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B82F6"/>
                </a:solidFill>
                <a:latin typeface="Consolas"/>
              </a:defRPr>
            </a:pPr>
            <a:r>
              <a:t>因果检验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指标间因果关系判定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28800"/>
            <a:ext cx="34747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DTW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68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0D9488"/>
                </a:solidFill>
                <a:latin typeface="Consolas"/>
              </a:defRPr>
            </a:pPr>
            <a:r>
              <a:t>时序相似度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指标曲线形态匹配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34747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LogClu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97706"/>
                </a:solidFill>
                <a:latin typeface="Consolas"/>
              </a:defRPr>
            </a:pPr>
            <a:r>
              <a:t>日志聚类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日志异常模式发现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4114800"/>
            <a:ext cx="34747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IDCE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C2626"/>
                </a:solidFill>
                <a:latin typeface="Consolas"/>
              </a:defRPr>
            </a:pPr>
            <a:r>
              <a:t>异常子图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拓扑异常子图检测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411480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333"/>
                </a:solidFill>
                <a:latin typeface="Arial"/>
              </a:defRPr>
            </a:pPr>
            <a:r>
              <a:t>PCADr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C3AED"/>
                </a:solidFill>
                <a:latin typeface="Consolas"/>
              </a:defRPr>
            </a:pPr>
            <a:r>
              <a:t>维度规约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120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高维指标降维归因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根因分析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12/45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根因分析页面截图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自动化运维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自愈 · Runbook · 脚本 · 变更 · 知识库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13/45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19456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21945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自愈规则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00400"/>
            <a:ext cx="14630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告警触发自动修复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条件+动作编排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多步骤工作流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39" y="1828800"/>
            <a:ext cx="219456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828800"/>
            <a:ext cx="21945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39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Runbook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799" y="3200400"/>
            <a:ext cx="14630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199" y="33832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运维手册模板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步骤化排障指引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标准化故障处理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1828800"/>
            <a:ext cx="219456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59" y="1828800"/>
            <a:ext cx="21945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远程脚本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19" y="3200400"/>
            <a:ext cx="14630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19" y="33832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SSH 批量执行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脚本模板管理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操作审计日志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79" y="1828800"/>
            <a:ext cx="219456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79" y="1828800"/>
            <a:ext cx="21945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变更审批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39" y="3200400"/>
            <a:ext cx="14630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39" y="33832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蓝绿发布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金丝雀发布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审批链+回滚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828800"/>
            <a:ext cx="219456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828800"/>
            <a:ext cx="21945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3200400"/>
            <a:ext cx="14630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338328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故障知识库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知识图谱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智能推荐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自动化运维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14/45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自愈规则配置截图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变更审批流程截图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从一句话到一次修复，中间发生了什么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15/45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3B82F6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38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意图识别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67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LLM 解析自然语言，路由到 MCP 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5029200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7A889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900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多工具编排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19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并行调用告警/指标/日志/资产 13+ 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029200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7A889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41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知识检索+根因推理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匹配历史故障，LLM 给出根因结论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5029200" cy="914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2063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7A889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93207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A2333"/>
                </a:solidFill>
                <a:latin typeface="Microsoft YaHei"/>
              </a:defRPr>
            </a:pPr>
            <a:r>
              <a:t>安全执行+全审计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2239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高风险操作二次确认，所有动作落库审计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02920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28800"/>
            <a:ext cx="50292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0D9488"/>
                </a:solidFill>
                <a:latin typeface="Microsoft YaHei"/>
              </a:defRPr>
            </a:pPr>
            <a:r>
              <a:t>● 自然语言 · 故障分析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377440"/>
            <a:ext cx="4754880" cy="5486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505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&gt; 查一下 order-center 最近的异常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017520"/>
            <a:ext cx="4754880" cy="1005840"/>
          </a:xfrm>
          <a:prstGeom prst="roundRect">
            <a:avLst/>
          </a:prstGeom>
          <a:solidFill>
            <a:srgbClr val="C2D4F1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检测到 3 条 critical 告警</a:t>
            </a:r>
          </a:p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均指向 POD-ABC123</a:t>
            </a:r>
          </a:p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根因：OOMKILLED — 内存超限 98.2%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114800"/>
            <a:ext cx="4754880" cy="548640"/>
          </a:xfrm>
          <a:prstGeom prst="roundRect">
            <a:avLst/>
          </a:prstGeom>
          <a:solidFill>
            <a:srgbClr val="C2D4F1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879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memory_usage 98.2% // pod_restarts +12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754880"/>
            <a:ext cx="4754880" cy="777240"/>
          </a:xfrm>
          <a:prstGeom prst="roundRect">
            <a:avLst/>
          </a:prstGeom>
          <a:solidFill>
            <a:srgbClr val="B7D9D6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82803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匹配历史故障，建议重启恢复</a:t>
            </a:r>
          </a:p>
          <a:p>
            <a:pPr>
              <a:spcAft>
                <a:spcPts val="400"/>
              </a:spcAft>
              <a:defRPr sz="1000" b="0">
                <a:solidFill>
                  <a:srgbClr val="1A2333"/>
                </a:solidFill>
                <a:latin typeface="Microsoft YaHei"/>
              </a:defRPr>
            </a:pPr>
            <a:r>
              <a:t>&gt;&gt; 一键执行修复？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AI Agent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16/45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AI 智能助手页面截图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资产管理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CMDB + K8s 三层纳管模型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17/45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轻量 CMDB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27种 CI 类型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资产自动发现 (SSH/API/K8s)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三类拓扑关系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标签管理 + 批量操作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变更跟踪 (字段级 diff)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健康评分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生命周期管理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2333"/>
                </a:solidFill>
                <a:latin typeface="Microsoft YaHei"/>
              </a:defRPr>
            </a:pPr>
            <a:r>
              <a:t>K8s 三层纳管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468880"/>
            <a:ext cx="493776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468880"/>
            <a:ext cx="36576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持久化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cluster/node/deployment/service → 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657600"/>
            <a:ext cx="493776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3657600"/>
            <a:ext cx="36576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弱纳管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configmap/secret/pvc → 只存引用不存内容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846320"/>
            <a:ext cx="4937760" cy="100584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846320"/>
            <a:ext cx="36576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实时视图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pod/replicaset/container → 不入库，聚合到工作负载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CMDB &amp; K8s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18/45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资产管理列表截图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K8s 集群概览截图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SRE 可靠性工程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把"系统稳不稳"从拍脑袋变成数学题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19/45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45720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Error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SLO→Budget 映射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健康/警告/严重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超预算限制变更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4572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Budget 消耗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1h/6h/24h 多窗口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Burn Rate 预警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趋势可视化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28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28800"/>
            <a:ext cx="45720" cy="2011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SLO 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服务级目标管理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窗口期可配置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达成率追踪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4572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SLA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达成率计算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处罚规则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运行/停机统计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4114800"/>
            <a:ext cx="4572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值班管理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周/月轮值排班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当前值班状态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通知分派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11480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4114800"/>
            <a:ext cx="45720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升级策略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7091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多级别升级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等待时间配置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通知渠道联动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SRE 可靠性 — 系统截图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20/45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系统态势截图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值班表截图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AI 越能干，越要管得住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六道安全枷锁，让它只做该做的事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21/45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管理员/运维/只读三级权限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92024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动作确认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高风险写操作必须人工确认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92024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103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审计日志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所有操作记录可回放追溯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API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令牌管理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只读/读写/管理员三级令牌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93192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14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ALLOWLIST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工具白名单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仅预置安全工具可执行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931920"/>
            <a:ext cx="347472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4114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SILENCE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告警静默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800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维护窗口自动静默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传统运维 vs AIOps 智能运维体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22/45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7A8898"/>
                </a:solidFill>
                <a:latin typeface="Microsoft YaHei"/>
              </a:defRPr>
            </a:pPr>
            <a:r>
              <a:t>传统运维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告警轰炸，靠人肉筛选，一天 90+ 条</a:t>
            </a:r>
          </a:p>
          <a:p>
            <a:pPr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故障定位靠老员工经验，排查 45 分钟起步</a:t>
            </a:r>
          </a:p>
          <a:p>
            <a:pPr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重启/扩容/清理全是手工，重复劳动</a:t>
            </a:r>
          </a:p>
          <a:p>
            <a:pPr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知识装在老员工脑子里，离职即失传</a:t>
            </a:r>
          </a:p>
          <a:p>
            <a:pPr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缺乏 SLO/SLA 度量，运维价值无法体现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43891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AIOps 智能运维体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2333"/>
                </a:solidFill>
                <a:latin typeface="Microsoft YaHei"/>
              </a:defRPr>
            </a:pPr>
            <a:r>
              <a:t>AI 收敛去噪，日均 9 条有效告警</a:t>
            </a:r>
          </a:p>
          <a:p>
            <a:pPr>
              <a:spcAft>
                <a:spcPts val="400"/>
              </a:spcAft>
              <a:defRPr sz="1200" b="0">
                <a:solidFill>
                  <a:srgbClr val="1A2333"/>
                </a:solidFill>
                <a:latin typeface="Microsoft YaHei"/>
              </a:defRPr>
            </a:pPr>
            <a:r>
              <a:t>AI 自动构建证据链，13 分钟定位根因</a:t>
            </a:r>
          </a:p>
          <a:p>
            <a:pPr>
              <a:spcAft>
                <a:spcPts val="400"/>
              </a:spcAft>
              <a:defRPr sz="1200" b="0">
                <a:solidFill>
                  <a:srgbClr val="1A2333"/>
                </a:solidFill>
                <a:latin typeface="Microsoft YaHei"/>
              </a:defRPr>
            </a:pPr>
            <a:r>
              <a:t>SOP 工作流自动执行，人工只确认高风险</a:t>
            </a:r>
          </a:p>
          <a:p>
            <a:pPr>
              <a:spcAft>
                <a:spcPts val="400"/>
              </a:spcAft>
              <a:defRPr sz="1200" b="0">
                <a:solidFill>
                  <a:srgbClr val="1A2333"/>
                </a:solidFill>
                <a:latin typeface="Microsoft YaHei"/>
              </a:defRPr>
            </a:pPr>
            <a:r>
              <a:t>知识库+图谱沉淀经验，新人也能像老兵</a:t>
            </a:r>
          </a:p>
          <a:p>
            <a:pPr>
              <a:spcAft>
                <a:spcPts val="400"/>
              </a:spcAft>
              <a:defRPr sz="1200" b="0">
                <a:solidFill>
                  <a:srgbClr val="1A2333"/>
                </a:solidFill>
                <a:latin typeface="Microsoft YaHei"/>
              </a:defRPr>
            </a:pPr>
            <a:r>
              <a:t>SLO/Error Budget 度量，运维价值可量化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技术架构总览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4A5868"/>
                </a:solidFill>
                <a:latin typeface="Microsoft YaHei"/>
              </a:defRPr>
            </a:pPr>
            <a:r>
              <a:t>六层分层架构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23/45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1645920"/>
            <a:ext cx="10515600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8047" y="1645920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647" y="1719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可视化与交互层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647" y="1993392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Dashboard · 容器看板 · 报表 · ChatOps · 移动端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5781" y="2423160"/>
            <a:ext cx="10200132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5781" y="2423160"/>
            <a:ext cx="36576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4381" y="2496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运维控制面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4381" y="2770632"/>
            <a:ext cx="98343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发版引擎 · 容器管理 · 扩缩容 · 日志终端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53515" y="3200400"/>
            <a:ext cx="9884663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515" y="3200400"/>
            <a:ext cx="3657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2115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业务智能层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2115" y="3547872"/>
            <a:ext cx="95189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异常检测 · 根因分析 · 故障预测 · 告警智能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11249" y="3977639"/>
            <a:ext cx="9569196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1249" y="3977639"/>
            <a:ext cx="36576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39849" y="40507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数据处理层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849" y="4325111"/>
            <a:ext cx="92034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数据清洗 · 特征提取 · 归一化 · 时间窗口聚合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8983" y="4754880"/>
            <a:ext cx="9253728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68983" y="4754880"/>
            <a:ext cx="36576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7583" y="4828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数据采集层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7583" y="5102352"/>
            <a:ext cx="8887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传统指标 · 日志 · 事件 · 调用链 · 容器指标 · CMDB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26717" y="5532120"/>
            <a:ext cx="8938260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26717" y="5532120"/>
            <a:ext cx="36576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55317" y="5605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5317" y="5879592"/>
            <a:ext cx="857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K8s 多集群 · Docker · cAdvisor · containerd · Mesh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技术栈一览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24/45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Python 3.13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Web 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Vue 3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874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Element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0040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20040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429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SQLAlchemy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20040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429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Chart.js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图表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20040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429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D3.js v7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拓扑可视化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5488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Kubernetes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容器编排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75488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486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容器化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75488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Elasticsearch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486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搜索引擎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4754880"/>
            <a:ext cx="2651760" cy="1280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983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A2333"/>
                </a:solidFill>
                <a:latin typeface="Arial"/>
              </a:defRPr>
            </a:pPr>
            <a:r>
              <a:t>NumPy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486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7A8898"/>
                </a:solidFill>
                <a:latin typeface="Microsoft YaHei"/>
              </a:defRPr>
            </a:pPr>
            <a:r>
              <a:t>ML 框架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部署架构与一键部署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25/45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68580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浏览器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  Vue SPA :3000 | Jinja2 :8000 | /mobile-app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FastAPI + Uvicorn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  AuthMiddleware · SessionMiddleware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  DEMO/REAL 双数据库自动切换</a:t>
            </a: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4A5868"/>
                </a:solidFill>
                <a:latin typeface="Consolas"/>
              </a:defRPr>
            </a:pPr>
            <a:r>
              <a:t>SQLite (WAL) | ES :9200 | SSH/K8s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645920"/>
            <a:ext cx="411480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一键部署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python tools/deploy.py all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python tools/deploy.py backend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python tools/deploy.py frontend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python tools/deploy.py mobile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Consolas"/>
              </a:defRPr>
            </a:pPr>
            <a:r>
              <a:t>默认账号: admin / admin123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登录页 — Vue SPA 渲染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26/45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登录页页面截图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仪表盘 — 全局健康总览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27/45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仪表盘页面截图 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拓扑视图 — D3.js 力导向图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28/45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拓扑视图页面截图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AI 智能助手 — 对话排障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29/45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AI 智能助手页面截图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系统态势 — SLO + 热力图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30/45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系统态势页面截图 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// 预期收益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可量化的运维进化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31/45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057400"/>
            <a:ext cx="384048" cy="384048"/>
          </a:xfrm>
          <a:prstGeom prst="roundRect">
            <a:avLst/>
          </a:prstGeom>
          <a:solidFill>
            <a:srgbClr val="021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0D9488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0D9488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MTTR 降低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 30min 降到 15min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2057400"/>
            <a:ext cx="384048" cy="384048"/>
          </a:xfrm>
          <a:prstGeom prst="roundRect">
            <a:avLst/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3B82F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3B82F6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变更失败率降低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8404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 5% 降到 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59" y="2057400"/>
            <a:ext cx="384048" cy="384048"/>
          </a:xfrm>
          <a:prstGeom prst="roundRect">
            <a:avLst/>
          </a:prstGeom>
          <a:solidFill>
            <a:srgbClr val="180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7C3AED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7C3AED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告警降噪率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8404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 90+ 条收敛到 9 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828800"/>
            <a:ext cx="260604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26880" y="2057400"/>
            <a:ext cx="384048" cy="384048"/>
          </a:xfrm>
          <a:prstGeom prst="roundRect">
            <a:avLst/>
          </a:prstGeom>
          <a:solidFill>
            <a:srgbClr val="2B1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03120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700" b="1">
                <a:solidFill>
                  <a:srgbClr val="D97706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D9770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83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A2333"/>
                </a:solidFill>
                <a:latin typeface="Microsoft YaHei"/>
              </a:defRPr>
            </a:pPr>
            <a:r>
              <a:t>值班满意度提升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404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从 60% 提升到 90%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32/45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👨‍💻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SRE 值班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一个页面看清所有服务健康度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故障排查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自然语言问 AI，自动查指标+日志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团队度量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SLO/Error Budget 一键生成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日常运维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SSH 批量执行/K8s 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931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手机巡检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移动端 H5 / 扫码识别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931920"/>
            <a:ext cx="347472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754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Demo 演示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5212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4A5868"/>
                </a:solidFill>
                <a:latin typeface="Microsoft YaHei"/>
              </a:defRPr>
            </a:pPr>
            <a:r>
              <a:t>内置种子数据/双数据库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分阶段实施计划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33/45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1031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3B82F6"/>
                </a:solidFill>
                <a:latin typeface="Consolas"/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基础部署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B82F6"/>
                </a:solidFill>
                <a:latin typeface="Microsoft YaHei"/>
              </a:defRPr>
            </a:pPr>
            <a:r>
              <a:t>1-2周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173736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环境搭建+核心模块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数据源对接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D9488"/>
                </a:solidFill>
                <a:latin typeface="Consolas"/>
              </a:defRPr>
            </a:pPr>
            <a: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86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功能定制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0D9488"/>
                </a:solidFill>
                <a:latin typeface="Microsoft YaHei"/>
              </a:defRPr>
            </a:pPr>
            <a:r>
              <a:t>3-4周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017520"/>
            <a:ext cx="173736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2004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告警+通知配置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资产梳理+K8s接入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645920"/>
            <a:ext cx="21031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7C3AED"/>
                </a:solidFill>
                <a:latin typeface="Consolas"/>
              </a:defRPr>
            </a:pPr>
            <a:r>
              <a:t>P3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286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AI 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C3AED"/>
                </a:solidFill>
                <a:latin typeface="Microsoft YaHei"/>
              </a:defRPr>
            </a:pPr>
            <a:r>
              <a:t>5-6周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017520"/>
            <a:ext cx="173736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2004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Agent配置+知识库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根因分析调优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645920"/>
            <a:ext cx="210312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F46E5"/>
                </a:solidFill>
                <a:latin typeface="Consolas"/>
              </a:defRPr>
            </a:pPr>
            <a:r>
              <a:t>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286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SRE 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4F46E5"/>
                </a:solidFill>
                <a:latin typeface="Microsoft YaHei"/>
              </a:defRPr>
            </a:pPr>
            <a:r>
              <a:t>7-8周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3017520"/>
            <a:ext cx="173736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32004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SLO/Budget配置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值班+升级+报表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1645920"/>
            <a:ext cx="210312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645920"/>
            <a:ext cx="21031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920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D97706"/>
                </a:solidFill>
                <a:latin typeface="Consolas"/>
              </a:defRPr>
            </a:pPr>
            <a:r>
              <a:t>P5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286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验收上线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97706"/>
                </a:solidFill>
                <a:latin typeface="Microsoft YaHei"/>
              </a:defRPr>
            </a:pPr>
            <a:r>
              <a:t>9-10周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017520"/>
            <a:ext cx="173736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32004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UAT测试+性能调优</a:t>
            </a:r>
          </a:p>
          <a:p>
            <a:pPr>
              <a:spcAft>
                <a:spcPts val="400"/>
              </a:spcAft>
              <a:defRPr sz="1000" b="0">
                <a:solidFill>
                  <a:srgbClr val="4A5868"/>
                </a:solidFill>
                <a:latin typeface="Microsoft YaHei"/>
              </a:defRPr>
            </a:pPr>
            <a:r>
              <a:t>培训交付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服务保障承诺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34/45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5176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651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技术支持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017520"/>
            <a:ext cx="19202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7x24 在线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4小时响应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24小时解决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645920"/>
            <a:ext cx="265176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265176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SLA 保障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017520"/>
            <a:ext cx="19202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2004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可用性&gt;=99.9%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故障恢复&lt;=30min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数据每日备份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265176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26517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培训服务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017520"/>
            <a:ext cx="19202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管理员 2天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运维人员 3天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操作手册+视频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645920"/>
            <a:ext cx="2651760" cy="4389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645920"/>
            <a:ext cx="265176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0">
                <a:solidFill>
                  <a:srgbClr val="1A2333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1A2333"/>
                </a:solidFill>
                <a:latin typeface="Microsoft YaHei"/>
              </a:defRPr>
            </a:pPr>
            <a:r>
              <a:t>运维服务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017520"/>
            <a:ext cx="1920240" cy="9144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2004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月度巡检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版本升级</a:t>
            </a:r>
          </a:p>
          <a:p>
            <a:pPr>
              <a:spcAft>
                <a:spcPts val="400"/>
              </a:spcAft>
              <a:defRPr sz="1200" b="0">
                <a:solidFill>
                  <a:srgbClr val="4A5868"/>
                </a:solidFill>
                <a:latin typeface="Microsoft YaHei"/>
              </a:defRPr>
            </a:pPr>
            <a:r>
              <a:t>安全补丁+调优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418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1A2333"/>
                </a:solidFill>
                <a:latin typeface="Microsoft YaHei"/>
              </a:defRPr>
            </a:pPr>
            <a:r>
              <a:t>现在，轮到你的运维进化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A5868"/>
                </a:solidFill>
                <a:latin typeface="Microsoft YaHei"/>
              </a:defRPr>
            </a:pPr>
            <a:r>
              <a:t>把判断力交给智能体——会思考、会决策、会执行，从今天开始。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657600"/>
            <a:ext cx="3566160" cy="594360"/>
          </a:xfrm>
          <a:prstGeom prst="round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37307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立即体验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35/45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告警控制台 — 实时告警看板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36/45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告警控制台页面截图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K8s 集群管理 — 多集群统一纳管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37/45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K8s 集群管理页面截图 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SRE 面板 — Error Budget 与值班表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38/45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SRE 面板页面截图 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ChatOps — 即时通讯运维指令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39/45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ChatOps页面截图 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变更审批 — 蓝绿发布流程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40/45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变更审批页面截图 ]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自愈工作流 — 多步骤自动修复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41/45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自愈工作流页面截图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知识库 — 故障知识库与图谱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42/45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知识库页面截图 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移动端 — UniApp H5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43/45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移动端页面截图 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1A2333"/>
                </a:solidFill>
                <a:latin typeface="Microsoft YaHei"/>
              </a:defRPr>
            </a:pPr>
            <a:r>
              <a:t>API 文档 — OpenAPI 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44/45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572000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[ API 文档页面截图 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1A2333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108960"/>
            <a:ext cx="2743200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A2333"/>
                </a:solidFill>
                <a:latin typeface="Microsoft YaHei"/>
              </a:defRPr>
            </a:pPr>
            <a:r>
              <a:t>AIOps 智能运维体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4A5868"/>
                </a:solidFill>
                <a:latin typeface="Microsoft YaHei"/>
              </a:defRPr>
            </a:pPr>
            <a:r>
              <a:t>让运维拥有判断力 · MCP 协议原生 · 大模型驱动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7A8898"/>
                </a:solidFill>
                <a:latin typeface="Microsoft YaHei"/>
              </a:defRPr>
            </a:pPr>
            <a:r>
              <a:t>联系方式：[ 请填写 ]  |  邮箱：[ 请填写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D0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7A8898"/>
                </a:solidFill>
                <a:latin typeface="Consolas"/>
              </a:defRPr>
            </a:pPr>
            <a:r>
              <a:t>AIOps 智能运维体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7A8898"/>
                </a:solidFill>
                <a:latin typeface="Microsoft YaHei"/>
              </a:defRPr>
            </a:pPr>
            <a:r>
              <a:t>45/45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