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12192000" cy="571500"/>
          </a:xfrm>
          <a:prstGeom prst="rect">
            <a:avLst/>
          </a:prstGeom>
          <a:solidFill>
            <a:srgbClr val="0C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2000" cy="571500"/>
          </a:xfrm>
          <a:prstGeom prst="rect">
            <a:avLst/>
          </a:prstGeom>
          <a:solidFill>
            <a:srgbClr val="0B4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12192000" cy="571500"/>
          </a:xfrm>
          <a:prstGeom prst="rect">
            <a:avLst/>
          </a:prstGeom>
          <a:solidFill>
            <a:srgbClr val="0A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92000" cy="571500"/>
          </a:xfrm>
          <a:prstGeom prst="rect">
            <a:avLst/>
          </a:prstGeom>
          <a:solidFill>
            <a:srgbClr val="09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12192000" cy="571500"/>
          </a:xfrm>
          <a:prstGeom prst="rect">
            <a:avLst/>
          </a:prstGeom>
          <a:solidFill>
            <a:srgbClr val="085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12192000" cy="571500"/>
          </a:xfrm>
          <a:prstGeom prst="rect">
            <a:avLst/>
          </a:prstGeom>
          <a:solidFill>
            <a:srgbClr val="075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12192000" cy="571500"/>
          </a:xfrm>
          <a:prstGeom prst="rect">
            <a:avLst/>
          </a:prstGeom>
          <a:solidFill>
            <a:srgbClr val="065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12192000" cy="571500"/>
          </a:xfrm>
          <a:prstGeom prst="rect">
            <a:avLst/>
          </a:prstGeom>
          <a:solidFill>
            <a:srgbClr val="04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12192000" cy="571500"/>
          </a:xfrm>
          <a:prstGeom prst="rect">
            <a:avLst/>
          </a:prstGeom>
          <a:solidFill>
            <a:srgbClr val="03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12192000" cy="571500"/>
          </a:xfrm>
          <a:prstGeom prst="rect">
            <a:avLst/>
          </a:prstGeom>
          <a:solidFill>
            <a:srgbClr val="026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34500" y="4190999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91750" y="5048250"/>
            <a:ext cx="1524000" cy="152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9250" y="5619750"/>
            <a:ext cx="952500" cy="952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34500" y="4762500"/>
            <a:ext cx="381000" cy="381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2000" y="762000"/>
            <a:ext cx="285750" cy="2857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500" y="571500"/>
            <a:ext cx="1143000" cy="114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Triangle 19"/>
          <p:cNvSpPr/>
          <p:nvPr/>
        </p:nvSpPr>
        <p:spPr>
          <a:xfrm rot="16200000">
            <a:off x="10287000" y="4429125"/>
            <a:ext cx="762000" cy="762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67250" y="2857500"/>
            <a:ext cx="2857500" cy="285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0" y="2952750"/>
            <a:ext cx="1219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50" b="1">
                <a:solidFill>
                  <a:srgbClr val="FFFFFF"/>
                </a:solidFill>
                <a:latin typeface="微软雅黑"/>
              </a:rPr>
              <a:t>AIOps 智能运维平台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3810000"/>
            <a:ext cx="1219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E5FF"/>
                </a:solidFill>
                <a:latin typeface="微软雅黑"/>
              </a:rPr>
              <a:t>系统架构数据流交互图详解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7250" y="4381500"/>
            <a:ext cx="2857500" cy="190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4524375"/>
            <a:ext cx="12192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>
                <a:solidFill>
                  <a:srgbClr val="CCDDEE"/>
                </a:solidFill>
                <a:latin typeface="微软雅黑"/>
              </a:rPr>
              <a:t>2026-07-15  |  客户技术交流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2095499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9150" y="1676400"/>
            <a:ext cx="457200" cy="457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49" y="183832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50" y="1790700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565C0"/>
                </a:solidFill>
                <a:latin typeface="微软雅黑"/>
              </a:rPr>
              <a:t>核心观测闭环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" y="228600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252412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资产发现 → 指标采集 → 异常检测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280987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→ 告警生成 → 移动端推送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2500" y="3095625"/>
            <a:ext cx="15240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30956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1565C0"/>
                </a:solidFill>
                <a:latin typeface="微软雅黑"/>
              </a:rPr>
              <a:t>链路 1 - 4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0" y="1428750"/>
            <a:ext cx="5143500" cy="2095499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3650" y="1676400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2250" y="183832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0" y="1790700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00897B"/>
                </a:solidFill>
                <a:latin typeface="微软雅黑"/>
              </a:rPr>
              <a:t>智能诊断与知识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600" y="228600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7000" y="252412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变更关联 → RCA 根因 → 知识沉淀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280987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→ AI 问答 → SOP 生成 → 审批流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3095625"/>
            <a:ext cx="15240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0" y="30956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00897B"/>
                </a:solidFill>
                <a:latin typeface="微软雅黑"/>
              </a:rPr>
              <a:t>链路 5 - 12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3810000"/>
            <a:ext cx="5143500" cy="2095499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9150" y="4057650"/>
            <a:ext cx="457200" cy="4572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7749" y="4219575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8750" y="4171950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6F00"/>
                </a:solidFill>
                <a:latin typeface="微软雅黑"/>
              </a:rPr>
              <a:t>自动化与自愈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" y="466725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500" y="490537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告警触发巡检 → 混沌稳态验证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" y="519112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→ 自动回滚 → On-Call 轮转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2500" y="5476875"/>
            <a:ext cx="15240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500" y="547687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FF6F00"/>
                </a:solidFill>
                <a:latin typeface="微软雅黑"/>
              </a:rPr>
              <a:t>链路 13 - 15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0" y="3810000"/>
            <a:ext cx="5143500" cy="2095499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43650" y="4057650"/>
            <a:ext cx="457200" cy="4572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72250" y="4219575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3250" y="4171950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E53935"/>
                </a:solidFill>
                <a:latin typeface="微软雅黑"/>
              </a:rPr>
              <a:t>AI 增强与运营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4600" y="466725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7000" y="490537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Agent 评估 → 异常回测 → 运营飞轮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0" y="519112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→ 诊断工具 → 仪表盘 → 移动端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77000" y="5476875"/>
            <a:ext cx="15240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7000" y="547687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E53935"/>
                </a:solidFill>
                <a:latin typeface="微软雅黑"/>
              </a:rPr>
              <a:t>链路 16 - 24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02 / 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平台架构总览 — 8 层闭环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428750"/>
            <a:ext cx="11049000" cy="55245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571625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资产层 | CMDB / 拓扑发现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2047875"/>
            <a:ext cx="11049000" cy="55245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190750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采集层 | SSH / K8s API / Metricbeat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667000"/>
            <a:ext cx="11049000" cy="5524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809875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存储层 | VictoriaMetrics 双写 / SQLite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3286125"/>
            <a:ext cx="11049000" cy="5524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3429000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检测层 | 7 种异常算法 / 统计推断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3905249"/>
            <a:ext cx="11049000" cy="5524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048124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告警层 | 聚合防抖 / 升级 / 静默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524375"/>
            <a:ext cx="11049000" cy="5524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4667250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诊断层 | 6 种 RCA / 知识推理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5143500"/>
            <a:ext cx="11049000" cy="5524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5286375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知识层 | RAG 检索 / SOP 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5762625"/>
            <a:ext cx="11049000" cy="5524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5905500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自愈层 | 规则引擎 / 混沌验证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03 / 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核心数据流（上）：观测 → 检测 → 告警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" y="28575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9225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57325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4766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资产自动发现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667125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TCP/SSH/ICMP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3625" y="3390900"/>
            <a:ext cx="20955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466975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19375" y="28575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28975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7075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9375" y="34766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指标采集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9375" y="3667125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SSH 19 命令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3375" y="3390900"/>
            <a:ext cx="20955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4276725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29125" y="28575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38725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6825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9125" y="34766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VM 双写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9125" y="3667125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VictoriaMetrics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53125" y="3390900"/>
            <a:ext cx="20955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6086475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8875" y="28575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48475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6575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8875" y="34766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健康引擎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8875" y="3667125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三层判定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62875" y="3390900"/>
            <a:ext cx="20955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7896224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48625" y="28575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58225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96325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8625" y="34766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可观测展示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8625" y="3667125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灭火图/仪表盘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72625" y="3390900"/>
            <a:ext cx="20955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Triangle 38"/>
          <p:cNvSpPr/>
          <p:nvPr/>
        </p:nvSpPr>
        <p:spPr>
          <a:xfrm rot="5400000">
            <a:off x="9705975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858375" y="28575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467975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06075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58375" y="34766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异常检测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8375" y="3667125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7 种算法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1500" y="45720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1500" y="469582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 前半段  |  资产自动发现 → 指标采集 → 时序存储 → 健康判定 → 可观测展示 → 异常检测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" y="52863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数据自底向上流动：底层资产通过 SSH 采集 19 类指标，双写 VictoriaMetrics，健康引擎结合告警/指标/链路三层判定，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" y="55245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灭火图实时展示实体健康状态，7 种异常算法（MAD / EWMA / IsolationForest / STL / Prophet 等）自动检测指标异常。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04 / 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核心数据流（下）：诊断 → 知识 → AI → 自愈 → SRE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8575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144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25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76625"/>
            <a:ext cx="1409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告警生成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667125"/>
            <a:ext cx="140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多级聚合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1700" y="3390900"/>
            <a:ext cx="1905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286000" y="33432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71700" y="28575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24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1700" y="3476625"/>
            <a:ext cx="1409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通知推送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1700" y="3667125"/>
            <a:ext cx="140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WebSocket/企微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81400" y="3390900"/>
            <a:ext cx="1905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3695700" y="33432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81400" y="28575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33849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719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400" y="3476625"/>
            <a:ext cx="1409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故障关联 RCA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1400" y="3667125"/>
            <a:ext cx="140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6 种根因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91100" y="3390900"/>
            <a:ext cx="1905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5105400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91100" y="28575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35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16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1100" y="3476625"/>
            <a:ext cx="1409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知识沉淀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1100" y="3667125"/>
            <a:ext cx="140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RAG 索引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390900"/>
            <a:ext cx="1905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6515100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28575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9532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13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476625"/>
            <a:ext cx="1409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AI 助手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667125"/>
            <a:ext cx="140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LLM + RAG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0499" y="3390900"/>
            <a:ext cx="1905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Triangle 38"/>
          <p:cNvSpPr/>
          <p:nvPr/>
        </p:nvSpPr>
        <p:spPr>
          <a:xfrm rot="5400000">
            <a:off x="7924799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810499" y="28575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62950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010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0499" y="3476625"/>
            <a:ext cx="1409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自愈执行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0499" y="3667125"/>
            <a:ext cx="140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规则引擎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20200" y="3390900"/>
            <a:ext cx="1905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Triangle 45"/>
          <p:cNvSpPr/>
          <p:nvPr/>
        </p:nvSpPr>
        <p:spPr>
          <a:xfrm rot="5400000">
            <a:off x="9334500" y="3343275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20200" y="28575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7726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107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20200" y="3476625"/>
            <a:ext cx="1409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SRE 闭环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20200" y="3667125"/>
            <a:ext cx="140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可用率提升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1500" y="45720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500" y="469582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 后半段  |  告警 → 通知 → 故障关联 → 知识沉淀 → AI助手 → 自愈 → SRE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500" y="52863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告警生成后，多级聚合防抖，关联 CMDB 拓扑执行 6 种 RCA 分析，根因知识自动沉淀至 RAG 知识库。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55245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AI 助手基于 LLM + RAG 提供诊断建议，规则引擎驱动自愈执行，最终反馈至 SRE 平台提升可用率。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05 / 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K8s 指标与事件接入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链路 2：K8s 指标采集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95499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90850" y="2228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8950" y="2305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146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K8s Metrics API 轮询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90512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2" name="Right Triangle 11"/>
          <p:cNvSpPr/>
          <p:nvPr/>
        </p:nvSpPr>
        <p:spPr>
          <a:xfrm rot="10800000">
            <a:off x="3057525" y="275272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2000" y="290512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90850" y="303847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8950" y="311467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52425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采集 CPU / MEM / 网络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71475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8" name="Right Triangle 17"/>
          <p:cNvSpPr/>
          <p:nvPr/>
        </p:nvSpPr>
        <p:spPr>
          <a:xfrm rot="10800000">
            <a:off x="3057525" y="35623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2000" y="3714750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90850" y="3848099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8950" y="39243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33387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生成 MetricRecord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52437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4" name="Right Triangle 23"/>
          <p:cNvSpPr/>
          <p:nvPr/>
        </p:nvSpPr>
        <p:spPr>
          <a:xfrm rot="10800000">
            <a:off x="3057525" y="43719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2000" y="452437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90850" y="4657725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8950" y="473392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514350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双写 VictoriaMetrics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53340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0" y="1428750"/>
            <a:ext cx="5524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6F00"/>
                </a:solidFill>
                <a:latin typeface="微软雅黑"/>
              </a:rPr>
              <a:t>链路 3：K8s 事件告警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6500" y="2095499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05850" y="2228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3950" y="2305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0" y="271462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K8s Events 轮询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290512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7" name="Right Triangle 36"/>
          <p:cNvSpPr/>
          <p:nvPr/>
        </p:nvSpPr>
        <p:spPr>
          <a:xfrm rot="10800000">
            <a:off x="8772525" y="275272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86500" y="290512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05850" y="3038475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43950" y="311467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0" y="352425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Warning / Error 过滤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6500" y="371475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3" name="Right Triangle 42"/>
          <p:cNvSpPr/>
          <p:nvPr/>
        </p:nvSpPr>
        <p:spPr>
          <a:xfrm rot="10800000">
            <a:off x="8772525" y="35623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86500" y="371475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05850" y="3848099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43950" y="39243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6500" y="433387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Alert 映射规则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0" y="452437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9" name="Right Triangle 48"/>
          <p:cNvSpPr/>
          <p:nvPr/>
        </p:nvSpPr>
        <p:spPr>
          <a:xfrm rot="10800000">
            <a:off x="8772525" y="43719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86500" y="452437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705850" y="4657725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43950" y="473392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6500" y="514350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防抖去重聚合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6500" y="533400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06 / 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移动端告警实时推送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6210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WebSocket 连接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长连接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7000" y="3390900"/>
            <a:ext cx="352425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43225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6700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6710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520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700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Token 鉴权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700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JWT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390900"/>
            <a:ext cx="352425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4848225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7210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1020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实时推送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告警详情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7000" y="3390900"/>
            <a:ext cx="352425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6753225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700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7710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分栏展示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待确认/处理中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81999" y="3390900"/>
            <a:ext cx="352425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8658225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81999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8210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2020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1999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操作回写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1999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确认/静默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4  |  WebSocket 实时推送 → 移动端分栏展示 → 确认/静默操作回写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移动端通过 WebSocket 与后端保持长连接，JWT Token 鉴权后接收实时告警推送，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按待确认 / 处理中 / 已静默分栏展示，支持一键确认或静默操作，状态回写后端。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07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事件变更关联故障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7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310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1199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476625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变更审批单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667125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status=executed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6125" y="3390900"/>
            <a:ext cx="40005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3609975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8612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243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24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6125" y="3476625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30 分钟窗口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6125" y="3667125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关联时间范围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7375" y="3390900"/>
            <a:ext cx="40005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5991225" y="33432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737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05600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370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7375" y="3476625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关联 Incident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7375" y="3667125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故障匹配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8625" y="3390900"/>
            <a:ext cx="40005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8372475" y="3343275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862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49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8625" y="3476625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RCA 纳入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8625" y="3667125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变更事件标注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5  |  变更审批单 → 30 分钟窗口 → 关联 Incident → RCA Timeline 纳入变更事件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变更审批单执行后，30 分钟内关联的故障自动纳入 RCA Timeline，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支持根因分析时区分变更事件与故障事件的先后关系，提升定界准确性。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08 / 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知识指导 SRE 实践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897B"/>
                </a:solidFill>
                <a:latin typeface="微软雅黑"/>
              </a:rPr>
              <a:t>知识库 → SRE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95499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90850" y="2228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8950" y="2305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146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KnowledgeBase sop_steps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90512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2" name="Right Triangle 11"/>
          <p:cNvSpPr/>
          <p:nvPr/>
        </p:nvSpPr>
        <p:spPr>
          <a:xfrm rot="10800000">
            <a:off x="3057525" y="275272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2000" y="290512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90850" y="3038475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8950" y="311467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52425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tags 匹配 SOP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71475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8" name="Right Triangle 17"/>
          <p:cNvSpPr/>
          <p:nvPr/>
        </p:nvSpPr>
        <p:spPr>
          <a:xfrm rot="10800000">
            <a:off x="3057525" y="35623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2000" y="3714750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90850" y="3848099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8950" y="39243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33387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SLO 参考知识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52437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4" name="Right Triangle 23"/>
          <p:cNvSpPr/>
          <p:nvPr/>
        </p:nvSpPr>
        <p:spPr>
          <a:xfrm rot="10800000">
            <a:off x="3057525" y="43719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2000" y="452437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90850" y="4657725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8950" y="473392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514350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Error Budget 违规推荐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53340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0" y="1428750"/>
            <a:ext cx="5524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SRE 面板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6500" y="2095499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05850" y="2228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3950" y="2305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0" y="271462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可用率对比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290512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7" name="Right Triangle 36"/>
          <p:cNvSpPr/>
          <p:nvPr/>
        </p:nvSpPr>
        <p:spPr>
          <a:xfrm rot="10800000">
            <a:off x="8772525" y="275272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86500" y="290512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05850" y="303847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43950" y="311467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0" y="352425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Error Budget 计算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6500" y="371475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3" name="Right Triangle 42"/>
          <p:cNvSpPr/>
          <p:nvPr/>
        </p:nvSpPr>
        <p:spPr>
          <a:xfrm rot="10800000">
            <a:off x="8772525" y="35623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86500" y="371475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05850" y="3848099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43950" y="39243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6500" y="433387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违规 → 推荐知识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0" y="452437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9" name="Right Triangle 48"/>
          <p:cNvSpPr/>
          <p:nvPr/>
        </p:nvSpPr>
        <p:spPr>
          <a:xfrm rot="10800000">
            <a:off x="8772525" y="43719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86500" y="452437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705850" y="465772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43950" y="473392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6500" y="514350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SOP 指导修复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6500" y="533400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09 / 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SLO 违规触发自愈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SLO 计算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Burn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3390900"/>
            <a:ext cx="3048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14650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违规告警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阈值触发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1050" y="3390900"/>
            <a:ext cx="3048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4819650" y="33432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规则匹配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自愈规则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6050" y="3390900"/>
            <a:ext cx="3048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6724650" y="33432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扩缩容/重启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Auto Remediation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01050" y="3390900"/>
            <a:ext cx="3048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8629650" y="3343275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30 分钟追踪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效果评估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7  |  SLO 计算 → Burn Rate → 违规告警 → 自愈规则匹配 → 扩缩容/重启 → 30 分钟效果追踪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SLO 计算引擎持续监控 Burn Rate，触发阈值后发送告警，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匹配自愈规则执行扩缩容或服务重启，30 分钟内追踪效果并记录 RemediationLog。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10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告警直接触发自动响应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定时扫描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AutoRemediation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3390900"/>
            <a:ext cx="3048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14650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SSH 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远程下发命令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1050" y="3390900"/>
            <a:ext cx="3048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4819650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黑名单校验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9 种危险命令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6050" y="3390900"/>
            <a:ext cx="3048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6724650" y="3343275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RemediationLog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执行记录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01050" y="3390900"/>
            <a:ext cx="3048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8629650" y="33432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30 分钟追踪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track_effect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8  |  定时扫描 AutoRemediation → SSH 执行 → 黑名单校验 → RemediationLog → 30 分钟追踪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AutoRemediation 定时扫描待处理告警，SSH 远程执行修复命令，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危险命令黑名单（rm -rf /etc 等 9 种）直接拦截，全量操作记录 RemediationLog 并追踪 30 分钟效果。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11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故障自动沉淀知识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故障 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故障结束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3390900"/>
            <a:ext cx="3048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14650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LLM 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知识摘要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1050" y="3390900"/>
            <a:ext cx="3048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4819650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RAG 索引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向量嵌入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6050" y="3390900"/>
            <a:ext cx="3048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6724650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TF-IDF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关键词向量化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01050" y="3390900"/>
            <a:ext cx="3048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8629650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检索召回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source=incident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9  |  故障 resolved → LLM 生成知识 → RAG 索引 → TF-IDF 向量 → 检索召回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故障状态变为 resolved 后，LLM 自动生成知识摘要，RAG 与 TF-IDF 双重向量化索引，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source_type=incident_case，相同故障可快速检索历史处置方案。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12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AI 检索知识（问答场景）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用户提问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自然语言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3390900"/>
            <a:ext cx="3048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14650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LLM tool_call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意图识别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1050" y="3390900"/>
            <a:ext cx="3048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4819650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RAG 检索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余弦相似度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6050" y="3390900"/>
            <a:ext cx="3048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6724650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结果注入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Context 拼接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01050" y="3390900"/>
            <a:ext cx="3048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8629650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采纳草稿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知识入库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10  |  用户提问 → LLM tool_call → RAG 检索 → 结果注入 → 采纳为知识草稿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用户提问由 LLM 解析意图，tool_call 调用 RAG 检索，余弦相似度匹配相关知识，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结果注入 LLM Context，答案采纳后作为知识草稿入库。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13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故障审批流状态机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4000" y="2571750"/>
            <a:ext cx="2286000" cy="123825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4000" y="2857500"/>
            <a:ext cx="2286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</a:rPr>
              <a:t>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2575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微软雅黑"/>
              </a:rPr>
              <a:t>故障已创建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8750" y="2571750"/>
            <a:ext cx="2286000" cy="123825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38750" y="2857500"/>
            <a:ext cx="2286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</a:rPr>
              <a:t>pending_approval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50" y="32575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微软雅黑"/>
              </a:rPr>
              <a:t>审批中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3500" y="2571750"/>
            <a:ext cx="2286000" cy="123825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3500" y="2857500"/>
            <a:ext cx="2286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</a:rPr>
              <a:t>resolved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0" y="32575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微软雅黑"/>
              </a:rPr>
              <a:t>已解决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0" y="3095625"/>
            <a:ext cx="1428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16161"/>
                </a:solidFill>
                <a:latin typeface="微软雅黑"/>
              </a:rPr>
              <a:t>提交审批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49" y="3048000"/>
            <a:ext cx="1428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16161"/>
                </a:solidFill>
                <a:latin typeface="微软雅黑"/>
              </a:rPr>
              <a:t>通过 →
驳回 → 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0999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431482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11  |  open → 提交审批 → pending_approval → 通过 resolved / 驳回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8577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故障审批流三状态：open（初始）→ pending_approval（提交审批）→ resolved（通过解决）或驳回 open。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1244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审批人可为值班 SRE 或指定负责人，支持转交和加急。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14 /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告警静默管理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7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310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1199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476625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创建静默规则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667125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指定时间范围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6125" y="3390900"/>
            <a:ext cx="40005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3609975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8612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243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24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6125" y="3476625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批量 silenced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6125" y="3667125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跳过聚合/自愈/通知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7375" y="3390900"/>
            <a:ext cx="40005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5991225" y="33432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737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05600" y="2990850"/>
            <a:ext cx="304800" cy="304800"/>
          </a:xfrm>
          <a:prstGeom prst="ellipse">
            <a:avLst/>
          </a:prstGeom>
          <a:solidFill>
            <a:srgbClr val="B2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370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E9E9E"/>
                </a:solidFill>
                <a:latin typeface="微软雅黑"/>
              </a:rPr>
              <a:t>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7375" y="3476625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过期自动恢复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7375" y="3667125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临时静默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8625" y="3390900"/>
            <a:ext cx="400050" cy="5715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8372475" y="3343275"/>
            <a:ext cx="152400" cy="152400"/>
          </a:xfrm>
          <a:prstGeom prst="rtTriangle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862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49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8625" y="3476625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手动取消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8625" y="3667125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提前解除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12  |  创建静默规则 → 批量 silenced → 过期恢复 / 手动取消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静默规则支持指定时间范围，静默期间告警跳过聚合，自愈和通知流程，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过期自动恢复，也可手动提前取消，适用于变更窗口等可预期静默场景。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15 / 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告警触发巡检自动化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告警触发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trigger_by_alert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3390900"/>
            <a:ext cx="3048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14650" y="3343275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匹配模板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规则映射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1050" y="3390900"/>
            <a:ext cx="3048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4819650" y="33432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8 类检查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CPU/内存/磁盘/...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6050" y="3390900"/>
            <a:ext cx="3048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6724650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AI 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诊断结论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01050" y="3390900"/>
            <a:ext cx="3048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8629650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关联告警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alert_id 标记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13  |  告警 → trigger_by_alert → 匹配模板 → 8 类检查 → AI 报告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告警触发后自动关联 InspectionRecord，匹配检查模板执行 8 类检查（OS / MySQL / Redis 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Elasticsearch / 进程 / 网络 / 磁盘 / 日志），AI 生成诊断报告，triggered_by_alert_id 关联源告警。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16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混沌工程稳态验证与自动回滚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4375" y="2857500"/>
            <a:ext cx="1381125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47775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5875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3476625"/>
            <a:ext cx="1381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采集基线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3667125"/>
            <a:ext cx="13811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before 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95499" y="3390900"/>
            <a:ext cx="1905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209800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95499" y="2857500"/>
            <a:ext cx="1381125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28900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700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5499" y="3476625"/>
            <a:ext cx="1381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注入故障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5499" y="3667125"/>
            <a:ext cx="13811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CPU/网络/磁盘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6625" y="3390900"/>
            <a:ext cx="1905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3590925" y="3343275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6625" y="2857500"/>
            <a:ext cx="1381125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10025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8124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6625" y="3476625"/>
            <a:ext cx="1381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sleep 观察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6625" y="3667125"/>
            <a:ext cx="13811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稳态运行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57750" y="3390900"/>
            <a:ext cx="1905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4972050" y="33432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57750" y="2857500"/>
            <a:ext cx="1381125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2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7750" y="3476625"/>
            <a:ext cx="1381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采集对比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7750" y="3667125"/>
            <a:ext cx="13811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after 指标 delta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8875" y="3390900"/>
            <a:ext cx="1905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6353175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38875" y="2857500"/>
            <a:ext cx="1381125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72275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0375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8875" y="3476625"/>
            <a:ext cx="1381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稳态验证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8875" y="3667125"/>
            <a:ext cx="13811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假设检验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20000" y="3390900"/>
            <a:ext cx="1905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Triangle 38"/>
          <p:cNvSpPr/>
          <p:nvPr/>
        </p:nvSpPr>
        <p:spPr>
          <a:xfrm rot="5400000">
            <a:off x="7734300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620000" y="2857500"/>
            <a:ext cx="1381125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53399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9150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0" y="3476625"/>
            <a:ext cx="1381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自动回滚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0000" y="3667125"/>
            <a:ext cx="13811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cleanup_cmd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1125" y="3390900"/>
            <a:ext cx="1905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Triangle 45"/>
          <p:cNvSpPr/>
          <p:nvPr/>
        </p:nvSpPr>
        <p:spPr>
          <a:xfrm rot="5400000">
            <a:off x="9115425" y="3343275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001125" y="2857500"/>
            <a:ext cx="1381125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34525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72625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1125" y="3476625"/>
            <a:ext cx="1381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结果标记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1125" y="3667125"/>
            <a:ext cx="13811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is_auto_recovered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1500" y="4190999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500" y="431482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14  |  基线采集 → 故障注入 → 稳态验证 → 自动回滚 → 结果标记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500" y="481012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混沌实验前采集 before 基线，注入故障后 sleep 观察，采集 after 对比 delta。delta &gt; 5% 判定稳态破坏，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507682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立即执行 cleanup_cmd 自动回滚，is_auto_recovered 标记回滚结果，确保混沌实验安全可控、故障可逆。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1500" y="54768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>
                <a:solidFill>
                  <a:srgbClr val="00897B"/>
                </a:solidFill>
                <a:latin typeface="微软雅黑"/>
              </a:rPr>
              <a:t>稳态假设验证 · before/after 对比 · 异常自动回滚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17 / 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On-Call 自动轮转与交接班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is_auto_rotate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自动轮转开启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3390900"/>
            <a:ext cx="3048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14650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周期过期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触发轮转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1050" y="3390900"/>
            <a:ext cx="3048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4819650" y="33432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自动轮转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下一位值班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6050" y="3390900"/>
            <a:ext cx="3048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6724650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手动触发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临时调整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01050" y="3390900"/>
            <a:ext cx="3048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8629650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handover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交接班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15  |  is_auto_rotate → 周期过期 → 自动轮转 → 手动触发 → handover 交接班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OnCallSchedule.is_auto_rotate 开启后，周期过期自动轮转至下一位值班人，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支持手动触发临时调整，handover 信息记录交接班内容，确保值班平滑过渡。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18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Agent 质量评估与 A/B 测试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AgentEvaluation 评估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95499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90850" y="2228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8950" y="2305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146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成功率 / 幻觉率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90512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2" name="Right Triangle 11"/>
          <p:cNvSpPr/>
          <p:nvPr/>
        </p:nvSpPr>
        <p:spPr>
          <a:xfrm rot="10800000">
            <a:off x="3057525" y="275272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2000" y="290512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90850" y="303847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8950" y="311467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52425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响应延迟 P99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71475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8" name="Right Triangle 17"/>
          <p:cNvSpPr/>
          <p:nvPr/>
        </p:nvSpPr>
        <p:spPr>
          <a:xfrm rot="10800000">
            <a:off x="3057525" y="35623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2000" y="3714750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90850" y="3848099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8950" y="39243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33387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Token 消耗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52437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4" name="Right Triangle 23"/>
          <p:cNvSpPr/>
          <p:nvPr/>
        </p:nvSpPr>
        <p:spPr>
          <a:xfrm rot="10800000">
            <a:off x="3057525" y="43719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2000" y="452437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90850" y="465772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8950" y="473392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514350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平均轮次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53340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0" y="1428750"/>
            <a:ext cx="5524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897B"/>
                </a:solidFill>
                <a:latin typeface="微软雅黑"/>
              </a:rPr>
              <a:t>A/B 测试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6500" y="2095499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05850" y="2228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3950" y="2305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0" y="271462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md5 分桶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290512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7" name="Right Triangle 36"/>
          <p:cNvSpPr/>
          <p:nvPr/>
        </p:nvSpPr>
        <p:spPr>
          <a:xfrm rot="10800000">
            <a:off x="8772525" y="275272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86500" y="290512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05850" y="3038475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43950" y="311467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0" y="352425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a/b 组分流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6500" y="371475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3" name="Right Triangle 42"/>
          <p:cNvSpPr/>
          <p:nvPr/>
        </p:nvSpPr>
        <p:spPr>
          <a:xfrm rot="10800000">
            <a:off x="8772525" y="35623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86500" y="371475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05850" y="3848099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43950" y="39243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6500" y="433387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Provider 对比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0" y="452437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9" name="Right Triangle 48"/>
          <p:cNvSpPr/>
          <p:nvPr/>
        </p:nvSpPr>
        <p:spPr>
          <a:xfrm rot="10800000">
            <a:off x="8772525" y="43719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86500" y="452437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705850" y="4657725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43950" y="473392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6500" y="514350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胜者标记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6500" y="533400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19 / 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异常检测精度回测与算法择优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标注数据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真实异常标记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3390900"/>
            <a:ext cx="3048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14650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F1 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Precision/Recall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1050" y="3390900"/>
            <a:ext cx="3048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4819650" y="33432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算法推荐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最优算法选择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6050" y="3390900"/>
            <a:ext cx="3048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6724650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特征匹配回退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CV/偏度/MAD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01050" y="3390900"/>
            <a:ext cx="3048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8629650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B2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E9E9E"/>
                </a:solidFill>
                <a:latin typeface="微软雅黑"/>
              </a:rPr>
              <a:t>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统计推断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数据质量评估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17  |  标注数据 → F1 评估 → 算法推荐 → 特征匹配回退 → 统计推断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基于标注数据对 7 种异常检测算法做 F1 评估，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特征匹配选择最优算法，CV/偏度/MAD 等统计推断评估数据质量，驱动算法持续优化。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20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SOP 知识自动生成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7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310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1199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476625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故障详情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667125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故障记录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6125" y="3390900"/>
            <a:ext cx="40005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3609975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8612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243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24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6125" y="3476625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LLM 生成 SOP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6125" y="3667125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step/action/cmd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7375" y="3390900"/>
            <a:ext cx="40005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5991225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737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0560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370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7375" y="3476625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草稿审批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7375" y="3667125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知识审核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8625" y="3390900"/>
            <a:ext cx="40005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8372475" y="33432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862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49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8625" y="3476625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正式知识库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8625" y="3667125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发布上线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18  |  故障详情 → LLM 生成 SOP 步骤 → 草稿审批 → 正式知识库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故障详情传入 LLM，自动生成含 step / action / command / expectation 的 SOP 步骤，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草稿状态经审批流审核通过后发布为正式知识，支持后续检索复用。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21 / 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运营数据飞轮 — MTTA/MTTR/AI 效能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333500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638300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MTTA 平均响应时间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076450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565C0"/>
                </a:solidFill>
                <a:latin typeface="微软雅黑"/>
              </a:rPr>
              <a:t>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1250" y="2219325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>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2114550"/>
            <a:ext cx="66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  <a:latin typeface="微软雅黑"/>
              </a:rPr>
              <a:t>↓ 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457450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告警产生到确认的平均耗时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500" y="1333500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0100" y="1638300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MTTR 平均修复时间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076450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565C0"/>
                </a:solidFill>
                <a:latin typeface="微软雅黑"/>
              </a:rPr>
              <a:t>12.5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2219325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>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0" y="2114550"/>
            <a:ext cx="66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  <a:latin typeface="微软雅黑"/>
              </a:rPr>
              <a:t>↓ 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2457450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告警产生到解决的平均耗时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1500" y="1333500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0100" y="1638300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自愈成功率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2076450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897B"/>
                </a:solidFill>
                <a:latin typeface="微软雅黑"/>
              </a:rPr>
              <a:t>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0" y="2219325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63250" y="2114550"/>
            <a:ext cx="66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  <a:latin typeface="微软雅黑"/>
              </a:rPr>
              <a:t>↑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0100" y="2457450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自动修复告警占总告警比例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3095625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" y="3400425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AI 对话效能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3838575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6F00"/>
                </a:solidFill>
                <a:latin typeface="微软雅黑"/>
              </a:rPr>
              <a:t>1,247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1250" y="3981450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>次/周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3250" y="3876674"/>
            <a:ext cx="66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  <a:latin typeface="微软雅黑"/>
              </a:rPr>
              <a:t>↑ 28%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421957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AI 助手周对话量与采纳率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1500" y="3095625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0100" y="3400425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通知推送统计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0100" y="3838575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565C0"/>
                </a:solidFill>
                <a:latin typeface="微软雅黑"/>
              </a:rPr>
              <a:t>8,532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1250" y="3981450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>条/月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0100" y="421957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WebSocket + 移动端推送总量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91500" y="3095625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0100" y="3400425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工具使用排行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0100" y="385762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>
                <a:solidFill>
                  <a:srgbClr val="212121"/>
                </a:solidFill>
                <a:latin typeface="微软雅黑"/>
              </a:rPr>
              <a:t>① query_logs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0100" y="406717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>
                <a:solidFill>
                  <a:srgbClr val="616161"/>
                </a:solidFill>
                <a:latin typeface="微软雅黑"/>
              </a:rPr>
              <a:t>② query_traces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0100" y="427672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>
                <a:solidFill>
                  <a:srgbClr val="616161"/>
                </a:solidFill>
                <a:latin typeface="微软雅黑"/>
              </a:rPr>
              <a:t>③ execute_run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0100" y="421957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Agent 工具调用频率 Top 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" y="48577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500" y="49815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19  |  运营数据飞轮 — 6 大 KPI 持续度量平台效能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54768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运营数据飞轮持续度量 MTTA/MTTR/自愈成功率/AI 效能/通知统计/工具排行 6 大 KPI，支持 7/30/90 天时间窗口切换，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57435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数据驱动平台迭代方向，形成「度量→优化→再度量」的持续改进闭环。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22 / 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分层诊断工具体系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428750"/>
            <a:ext cx="11049000" cy="14287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19250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🔧 Snapshot 快照层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95499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6 个工具：os / mysql / redis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000375"/>
            <a:ext cx="11049000" cy="14287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190875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🎯 Focused 定向层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67125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12 个工具：lock_contention / slowlog / 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572000"/>
            <a:ext cx="11049000" cy="14287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762500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⚡ Flexible 灵活层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238750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2 个工具：受限 shell + SQL 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191250"/>
            <a:ext cx="1104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1565C0"/>
                </a:solidFill>
                <a:latin typeface="微软雅黑"/>
              </a:rPr>
              <a:t>链路 20  |  Snapshot(6) → Focused(12) → Flexible(2) + 白名单校验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23 /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仪表盘拖拽自定义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40005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16 种卡片库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00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52600" y="213360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0700" y="22098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19375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KPI 卡片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809875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90875" y="2000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81475" y="213360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9575" y="22098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0875" y="2619375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折线图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0875" y="2809875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524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52600" y="365760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90700" y="3733799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143375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柱状图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333875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90875" y="3524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81475" y="365760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9575" y="3733799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90875" y="4143375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饼图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0875" y="4333875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5048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52600" y="518160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90700" y="52578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5667375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告警列表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5857875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90875" y="5048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181475" y="518160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19575" y="52578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90875" y="5667375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健康状态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90875" y="5857875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6000" y="1428750"/>
            <a:ext cx="5524500" cy="40005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897B"/>
                </a:solidFill>
                <a:latin typeface="微软雅黑"/>
              </a:rPr>
              <a:t>gridstack 画布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2000250"/>
            <a:ext cx="2428875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43775" y="213360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81874" y="22098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6500" y="2619375"/>
            <a:ext cx="2428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拖拽布局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86500" y="2809875"/>
            <a:ext cx="24288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58250" y="2000250"/>
            <a:ext cx="2428875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915525" y="213360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53625" y="22098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8250" y="2619375"/>
            <a:ext cx="2428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缩放调整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58250" y="2809875"/>
            <a:ext cx="24288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86500" y="3524250"/>
            <a:ext cx="2428875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343775" y="365760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81874" y="3733799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86500" y="4143375"/>
            <a:ext cx="2428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保存布局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6500" y="4333875"/>
            <a:ext cx="24288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58250" y="3524250"/>
            <a:ext cx="2428875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15525" y="365760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53625" y="3733799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58250" y="4143375"/>
            <a:ext cx="2428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3 套预置模板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58250" y="4333875"/>
            <a:ext cx="24288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" y="5715000"/>
            <a:ext cx="1104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1565C0"/>
                </a:solidFill>
                <a:latin typeface="微软雅黑"/>
              </a:rPr>
              <a:t>链路 21  |  16 种卡片 + gridstack 拖拽 + 3 套预置模板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24 / 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资产健康度评分与变更跟踪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CPU/MEM/DISK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指标采集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3390900"/>
            <a:ext cx="3048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14650" y="33432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+ 告警事件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异常信号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1050" y="3390900"/>
            <a:ext cx="3048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4819650" y="3343275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0-100 评分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健康度分值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6050" y="3390900"/>
            <a:ext cx="3048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6724650" y="33432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4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6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状态变化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6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阈值触发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01050" y="3390900"/>
            <a:ext cx="3048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8629650" y="33432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B2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250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E9E9E"/>
                </a:solidFill>
                <a:latin typeface="微软雅黑"/>
              </a:rPr>
              <a:t>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1050" y="3476625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AssetChangeLog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1050" y="366712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变更审计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22  |  CPU/MEM/DISK + 告警 → 0-100 评分 → 状态变化 → AssetChangeLog 审计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资产健康度综合 CPU / 内存 / 磁盘指标和告警事件计算 0-100 分，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状态变化触发 AssetChangeLog 审计记录，支持回溯资产变更历史。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25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移动端运维闭环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905000"/>
            <a:ext cx="5143500" cy="1905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43250" y="2190750"/>
            <a:ext cx="381000" cy="3810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43250" y="2314575"/>
            <a:ext cx="38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71462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565C0"/>
                </a:solidFill>
                <a:latin typeface="微软雅黑"/>
              </a:rPr>
              <a:t>日志搜索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28950"/>
            <a:ext cx="51435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16161"/>
                </a:solidFill>
                <a:latin typeface="微软雅黑"/>
              </a:rPr>
              <a:t>实时查看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500" y="1905000"/>
            <a:ext cx="5143500" cy="1905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48750" y="2190750"/>
            <a:ext cx="381000" cy="3810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8750" y="2314575"/>
            <a:ext cx="38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271462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6F00"/>
                </a:solidFill>
                <a:latin typeface="微软雅黑"/>
              </a:rPr>
              <a:t>告警批量操作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3028950"/>
            <a:ext cx="51435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16161"/>
                </a:solidFill>
                <a:latin typeface="微软雅黑"/>
              </a:rPr>
              <a:t>批量确认/静默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4095750"/>
            <a:ext cx="5143500" cy="1905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43250" y="4381500"/>
            <a:ext cx="381000" cy="3810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3250" y="4505325"/>
            <a:ext cx="38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53935"/>
                </a:solidFill>
                <a:latin typeface="微软雅黑"/>
              </a:rPr>
              <a:t>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90537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E53935"/>
                </a:solidFill>
                <a:latin typeface="微软雅黑"/>
              </a:rPr>
              <a:t>故障单创建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219700"/>
            <a:ext cx="51435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16161"/>
                </a:solidFill>
                <a:latin typeface="微软雅黑"/>
              </a:rPr>
              <a:t>快速建单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0" y="4095750"/>
            <a:ext cx="5143500" cy="1905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48750" y="4381500"/>
            <a:ext cx="381000" cy="3810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8750" y="4505325"/>
            <a:ext cx="38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0" y="490537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00897B"/>
                </a:solidFill>
                <a:latin typeface="微软雅黑"/>
              </a:rPr>
              <a:t>AI 会话列表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0" y="5219700"/>
            <a:ext cx="51435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16161"/>
                </a:solidFill>
                <a:latin typeface="微软雅黑"/>
              </a:rPr>
              <a:t>诊断助手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6286500"/>
            <a:ext cx="1104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1565C0"/>
                </a:solidFill>
                <a:latin typeface="微软雅黑"/>
              </a:rPr>
              <a:t>链路 23  |  日志搜索 / 告警批量操作 / 故障单创建 / AI 会话列表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26 / 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Agent 能力中心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40005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41 个工具注册表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00250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90850" y="213360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8950" y="22098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1937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read_file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80987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2" name="Right Triangle 11"/>
          <p:cNvSpPr/>
          <p:nvPr/>
        </p:nvSpPr>
        <p:spPr>
          <a:xfrm rot="10800000">
            <a:off x="3057525" y="256222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2000" y="2714625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90850" y="284797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8950" y="292417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33375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write_file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52425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8" name="Right Triangle 17"/>
          <p:cNvSpPr/>
          <p:nvPr/>
        </p:nvSpPr>
        <p:spPr>
          <a:xfrm rot="10800000">
            <a:off x="3057525" y="327660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2000" y="3429000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90850" y="35623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8950" y="36385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048124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shell_exec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23862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4" name="Right Triangle 23"/>
          <p:cNvSpPr/>
          <p:nvPr/>
        </p:nvSpPr>
        <p:spPr>
          <a:xfrm rot="10800000">
            <a:off x="3057525" y="3990974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2000" y="4143375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90850" y="427672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8950" y="435292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76250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ssh_exec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9530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0" name="Right Triangle 29"/>
          <p:cNvSpPr/>
          <p:nvPr/>
        </p:nvSpPr>
        <p:spPr>
          <a:xfrm rot="10800000">
            <a:off x="3057525" y="47053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2000" y="4857750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90850" y="499110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28950" y="50673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547687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mysql_query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566737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0" y="1428750"/>
            <a:ext cx="5524500" cy="40005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897B"/>
                </a:solidFill>
                <a:latin typeface="微软雅黑"/>
              </a:rPr>
              <a:t>统计面板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86500" y="200025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05850" y="213360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43950" y="22098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0" y="261937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total: 41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6500" y="280987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3" name="Right Triangle 42"/>
          <p:cNvSpPr/>
          <p:nvPr/>
        </p:nvSpPr>
        <p:spPr>
          <a:xfrm rot="10800000">
            <a:off x="8772525" y="26574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86500" y="280987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05850" y="2943225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43950" y="301942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6500" y="342900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llm_tools / internal_tools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0" y="361950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9" name="Right Triangle 48"/>
          <p:cNvSpPr/>
          <p:nvPr/>
        </p:nvSpPr>
        <p:spPr>
          <a:xfrm rot="10800000">
            <a:off x="8772525" y="346710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86500" y="361950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705850" y="3752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43950" y="3829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6500" y="423862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risk 分级: 绿/蓝/黄/橙/红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6500" y="442912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55" name="Right Triangle 54"/>
          <p:cNvSpPr/>
          <p:nvPr/>
        </p:nvSpPr>
        <p:spPr>
          <a:xfrm rot="10800000">
            <a:off x="8772525" y="427672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286500" y="442912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705850" y="4562475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43950" y="4638675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86500" y="504825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安全策略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86500" y="523875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500" y="5715000"/>
            <a:ext cx="1104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1565C0"/>
                </a:solidFill>
                <a:latin typeface="微软雅黑"/>
              </a:rPr>
              <a:t>链路 24  |  41 个工具注册 + LLM/Internal 分区 + 风险分级 + 安全策略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27 / 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平台核心价值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714500"/>
            <a:ext cx="5143500" cy="200025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9650" y="1962150"/>
            <a:ext cx="457200" cy="457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50" y="3267075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9250" y="2076450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565C0"/>
                </a:solidFill>
                <a:latin typeface="微软雅黑"/>
              </a:rPr>
              <a:t>全观测闭环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90599" y="257175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599" y="2762250"/>
            <a:ext cx="4686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资产→采集→检测→告警→诊断→自愈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0599" y="3238500"/>
            <a:ext cx="17145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599" y="3238500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1565C0"/>
                </a:solidFill>
                <a:latin typeface="微软雅黑"/>
              </a:rPr>
              <a:t>链路 1 全流程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500" y="1714500"/>
            <a:ext cx="5143500" cy="200025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15150" y="1962150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3750" y="3267075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49" y="2076450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00897B"/>
                </a:solidFill>
                <a:latin typeface="微软雅黑"/>
              </a:rPr>
              <a:t>AI 智能诊断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96100" y="257175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6100" y="2762250"/>
            <a:ext cx="4686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7 种异常算法 + RAG + 6 种 RCA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6100" y="3238500"/>
            <a:ext cx="17145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6100" y="3238500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00897B"/>
                </a:solidFill>
                <a:latin typeface="微软雅黑"/>
              </a:rPr>
              <a:t>链路 9-14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" y="3952875"/>
            <a:ext cx="5143500" cy="200025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9650" y="4200525"/>
            <a:ext cx="457200" cy="4572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8250" y="3267075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9250" y="4314825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6F00"/>
                </a:solidFill>
                <a:latin typeface="微软雅黑"/>
              </a:rPr>
              <a:t>自动化自愈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0599" y="4810125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599" y="5000625"/>
            <a:ext cx="4686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规则引擎 + 效果追踪 + 混沌回滚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0599" y="5476875"/>
            <a:ext cx="17145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599" y="5476875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FF6F00"/>
                </a:solidFill>
                <a:latin typeface="微软雅黑"/>
              </a:rPr>
              <a:t>链路 7-8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7500" y="3952875"/>
            <a:ext cx="5143500" cy="200025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15150" y="4200525"/>
            <a:ext cx="457200" cy="4572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43750" y="3267075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4749" y="4314825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E53935"/>
                </a:solidFill>
                <a:latin typeface="微软雅黑"/>
              </a:rPr>
              <a:t>知识飞轮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96100" y="4810125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96100" y="5000625"/>
            <a:ext cx="4686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自动沉淀 + 审批 + 检索 + 重排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96100" y="5476875"/>
            <a:ext cx="17145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96100" y="5476875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E53935"/>
                </a:solidFill>
                <a:latin typeface="微软雅黑"/>
              </a:rPr>
              <a:t>链路 9-13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28 / 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技术亮点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428750"/>
            <a:ext cx="11049000" cy="14287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19250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💾 VictoriaMetrics 时序库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95499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100K ops/s | PromQL | 自动压缩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000375"/>
            <a:ext cx="11049000" cy="14287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190875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📚 BGE-M3 RAG 双阶段检索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67125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召回 + 重排 | 精度 90%+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572000"/>
            <a:ext cx="11049000" cy="14287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762500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🔬 混沌稳态假设验证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238750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before/after 对比 | 自动回滚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29 /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12192000" cy="571500"/>
          </a:xfrm>
          <a:prstGeom prst="rect">
            <a:avLst/>
          </a:prstGeom>
          <a:solidFill>
            <a:srgbClr val="0C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2000" cy="571500"/>
          </a:xfrm>
          <a:prstGeom prst="rect">
            <a:avLst/>
          </a:prstGeom>
          <a:solidFill>
            <a:srgbClr val="0B4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12192000" cy="571500"/>
          </a:xfrm>
          <a:prstGeom prst="rect">
            <a:avLst/>
          </a:prstGeom>
          <a:solidFill>
            <a:srgbClr val="0A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92000" cy="571500"/>
          </a:xfrm>
          <a:prstGeom prst="rect">
            <a:avLst/>
          </a:prstGeom>
          <a:solidFill>
            <a:srgbClr val="09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12192000" cy="571500"/>
          </a:xfrm>
          <a:prstGeom prst="rect">
            <a:avLst/>
          </a:prstGeom>
          <a:solidFill>
            <a:srgbClr val="085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12192000" cy="571500"/>
          </a:xfrm>
          <a:prstGeom prst="rect">
            <a:avLst/>
          </a:prstGeom>
          <a:solidFill>
            <a:srgbClr val="075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12192000" cy="571500"/>
          </a:xfrm>
          <a:prstGeom prst="rect">
            <a:avLst/>
          </a:prstGeom>
          <a:solidFill>
            <a:srgbClr val="065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12192000" cy="571500"/>
          </a:xfrm>
          <a:prstGeom prst="rect">
            <a:avLst/>
          </a:prstGeom>
          <a:solidFill>
            <a:srgbClr val="04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12192000" cy="571500"/>
          </a:xfrm>
          <a:prstGeom prst="rect">
            <a:avLst/>
          </a:prstGeom>
          <a:solidFill>
            <a:srgbClr val="03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12192000" cy="571500"/>
          </a:xfrm>
          <a:prstGeom prst="rect">
            <a:avLst/>
          </a:prstGeom>
          <a:solidFill>
            <a:srgbClr val="026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34500" y="4190999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91750" y="5048250"/>
            <a:ext cx="1524000" cy="152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9250" y="5619750"/>
            <a:ext cx="952500" cy="952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287000" y="4429125"/>
            <a:ext cx="762000" cy="762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7250" y="2857500"/>
            <a:ext cx="2857500" cy="285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2952750"/>
            <a:ext cx="1219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50" b="1">
                <a:solidFill>
                  <a:srgbClr val="FFFFFF"/>
                </a:solidFill>
                <a:latin typeface="微软雅黑"/>
              </a:rPr>
              <a:t>感谢聆听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3810000"/>
            <a:ext cx="1219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CCE5FF"/>
                </a:solidFill>
                <a:latin typeface="微软雅黑"/>
              </a:rPr>
              <a:t>AIOps 智能运维平台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7250" y="4381500"/>
            <a:ext cx="2857500" cy="190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