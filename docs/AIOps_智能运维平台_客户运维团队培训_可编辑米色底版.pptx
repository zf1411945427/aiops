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2C1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76200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333500"/>
            <a:ext cx="5715000" cy="198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0" b="1">
                <a:solidFill>
                  <a:srgbClr val="2C1810"/>
                </a:solidFill>
                <a:latin typeface="微软雅黑"/>
              </a:defRPr>
            </a:pPr>
            <a:r>
              <a:t>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57500"/>
            <a:ext cx="5715000" cy="198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0" b="1">
                <a:solidFill>
                  <a:srgbClr val="2C1810"/>
                </a:solidFill>
                <a:latin typeface="微软雅黑"/>
              </a:defRPr>
            </a:pPr>
            <a:r>
              <a:t>运维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429250"/>
            <a:ext cx="571500" cy="381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5610225"/>
            <a:ext cx="3810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C4A3A"/>
                </a:solidFill>
                <a:latin typeface="微软雅黑"/>
              </a:defRPr>
            </a:pPr>
            <a:r>
              <a:t>客户运维团队功能培训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953125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2026.07 ·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0" y="96202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FFFFFF"/>
                </a:solidFill>
                <a:latin typeface="微软雅黑"/>
              </a:defRPr>
            </a:pPr>
            <a:r>
              <a:t>KEY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0" y="1428750"/>
            <a:ext cx="190500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0" b="1">
                <a:solidFill>
                  <a:srgbClr val="FFFFFF"/>
                </a:solidFill>
                <a:latin typeface="微软雅黑"/>
              </a:defRPr>
            </a:pPr>
            <a: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2209800"/>
            <a:ext cx="571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8A7A6A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0" y="2743200"/>
            <a:ext cx="28575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08A72"/>
                </a:solidFill>
                <a:latin typeface="微软雅黑"/>
              </a:defRPr>
            </a:pPr>
            <a:r>
              <a:t>自动化运维覆盖率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4750" y="3238500"/>
            <a:ext cx="4381500" cy="9525"/>
          </a:xfrm>
          <a:prstGeom prst="rect">
            <a:avLst/>
          </a:prstGeom>
          <a:solidFill>
            <a:srgbClr val="4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750" y="3048000"/>
            <a:ext cx="190500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0" b="1">
                <a:solidFill>
                  <a:srgbClr val="FFFFFF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0" y="4362450"/>
            <a:ext cx="28575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08A72"/>
                </a:solidFill>
                <a:latin typeface="微软雅黑"/>
              </a:defRPr>
            </a:pPr>
            <a:r>
              <a:t>大功能模块全栈覆盖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4750" y="4857750"/>
            <a:ext cx="4381500" cy="9525"/>
          </a:xfrm>
          <a:prstGeom prst="rect">
            <a:avLst/>
          </a:prstGeom>
          <a:solidFill>
            <a:srgbClr val="4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4750" y="4667250"/>
            <a:ext cx="1905000" cy="167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0" b="1">
                <a:solidFill>
                  <a:srgbClr val="FFFFFF"/>
                </a:solidFill>
                <a:latin typeface="微软雅黑"/>
              </a:defRPr>
            </a:pPr>
            <a: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0" y="5981700"/>
            <a:ext cx="28575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A08A72"/>
                </a:solidFill>
                <a:latin typeface="微软雅黑"/>
              </a:defRPr>
            </a:pPr>
            <a:r>
              <a:t>页完整产品演示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0" y="6581775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CONTENTS ·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52525"/>
            <a:ext cx="3810000" cy="971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2C1810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238375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2667000"/>
            <a:ext cx="533400" cy="5334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790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2667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C1810"/>
                </a:solidFill>
                <a:latin typeface="微软雅黑"/>
              </a:defRPr>
            </a:pPr>
            <a:r>
              <a:t>产品概述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3009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4A3A"/>
                </a:solidFill>
                <a:latin typeface="微软雅黑"/>
              </a:defRPr>
            </a:pPr>
            <a:r>
              <a:t>产品定位 · 核心价值 · 功能全景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429000"/>
            <a:ext cx="533400" cy="533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552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900" y="3429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C1810"/>
                </a:solidFill>
                <a:latin typeface="微软雅黑"/>
              </a:defRPr>
            </a:pPr>
            <a:r>
              <a:t>核心功能模块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" y="3771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4A3A"/>
                </a:solidFill>
                <a:latin typeface="微软雅黑"/>
              </a:defRPr>
            </a:pPr>
            <a:r>
              <a:t>10大功能模块详解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4191000"/>
            <a:ext cx="533400" cy="5334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314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900" y="4191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C1810"/>
                </a:solidFill>
                <a:latin typeface="微软雅黑"/>
              </a:defRPr>
            </a:pPr>
            <a:r>
              <a:t>功能关系与SOP流程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4533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4A3A"/>
                </a:solidFill>
                <a:latin typeface="微软雅黑"/>
              </a:defRPr>
            </a:pPr>
            <a:r>
              <a:t>8大标准操作流程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953000"/>
            <a:ext cx="533400" cy="533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076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900" y="4953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C1810"/>
                </a:solidFill>
                <a:latin typeface="微软雅黑"/>
              </a:defRPr>
            </a:pPr>
            <a:r>
              <a:t>系统集成与扩展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5900" y="5295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4A3A"/>
                </a:solidFill>
                <a:latin typeface="微软雅黑"/>
              </a:defRPr>
            </a:pPr>
            <a:r>
              <a:t>API · 集成 · 安全管理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5715000"/>
            <a:ext cx="533400" cy="533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838825"/>
            <a:ext cx="5334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5715000"/>
            <a:ext cx="5715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50" b="1">
                <a:solidFill>
                  <a:srgbClr val="2C1810"/>
                </a:solidFill>
                <a:latin typeface="微软雅黑"/>
              </a:defRPr>
            </a:pPr>
            <a:r>
              <a:t>总结与价值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6057900"/>
            <a:ext cx="571500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5C4A3A"/>
                </a:solidFill>
                <a:latin typeface="微软雅黑"/>
              </a:defRPr>
            </a:pPr>
            <a:r>
              <a:t>核心价值 · 实施路径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64770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02 / 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01 · 产品概述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03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AI 驱动的全栈可观测性与自动化运维解决方案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VALUE · 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85750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47625" cy="5334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125" y="289560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0289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2C1810"/>
                </a:solidFill>
                <a:latin typeface="微软雅黑"/>
              </a:defRPr>
            </a:pPr>
            <a:r>
              <a:t>AI驱动的智能运维解决方案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48615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2000" y="3486150"/>
            <a:ext cx="47625" cy="533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125" y="35242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36576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2C1810"/>
                </a:solidFill>
                <a:latin typeface="微软雅黑"/>
              </a:defRPr>
            </a:pPr>
            <a:r>
              <a:t>覆盖运维全生命周期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11480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2000" y="4114800"/>
            <a:ext cx="47625" cy="5334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125" y="415290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D9488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42862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2C1810"/>
                </a:solidFill>
                <a:latin typeface="微软雅黑"/>
              </a:defRPr>
            </a:pPr>
            <a:r>
              <a:t>降低人工干预，提升效率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474345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2000" y="4743450"/>
            <a:ext cx="47625" cy="533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125" y="47815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49149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2C1810"/>
                </a:solidFill>
                <a:latin typeface="微软雅黑"/>
              </a:defRPr>
            </a:pPr>
            <a:r>
              <a:t>知识沉淀，持续优化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000" y="537210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2000" y="5372100"/>
            <a:ext cx="47625" cy="533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0125" y="541020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3500" y="55435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0">
                <a:solidFill>
                  <a:srgbClr val="2C1810"/>
                </a:solidFill>
                <a:latin typeface="微软雅黑"/>
              </a:defRPr>
            </a:pPr>
            <a:r>
              <a:t>可视化运维，一目了然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TARGET USERS · 目标用户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285750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4625" y="29241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运维工程师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625" y="31623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日常运维 · 故障处理 · 脚本执行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6500" y="348615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4625" y="35528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SRE工程师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5" y="37909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可靠性保障 · SLO管理 · 错误预算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500" y="411480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4625" y="41814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运维经理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4625" y="44196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团队管理 · 报表分析 · 决策支持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6500" y="4743450"/>
            <a:ext cx="5143500" cy="5334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48101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开发工程师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0482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应用监控 · 日志排查 · 链路追踪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03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产品定位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01 · 产品概述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04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功能全景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10大功能模块 · 全栈运维覆盖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2047875" cy="381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875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C2410C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运行概览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系统态势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5125" y="2667000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05125" y="2667000"/>
            <a:ext cx="2047875" cy="38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000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DC2626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8500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AI智能助手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8250" y="2667000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8250" y="2667000"/>
            <a:ext cx="2047875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1125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0D9488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1625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1125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指标/日志/追踪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1375" y="2667000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91375" y="2667000"/>
            <a:ext cx="2047875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4250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4F46E5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0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0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4500" y="2667000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34500" y="2667000"/>
            <a:ext cx="2047875" cy="381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7375" y="2809875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B45309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7875" y="28098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7375" y="30670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自愈/脚本/Ansible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000" y="3571875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2000" y="3571875"/>
            <a:ext cx="2047875" cy="381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4875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7C3AED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375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875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资产/拓扑/生命周期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05125" y="3571875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05125" y="3571875"/>
            <a:ext cx="2047875" cy="381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48000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C2410C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8500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48000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K8s/Docker/Helm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48250" y="3571875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48250" y="3571875"/>
            <a:ext cx="2047875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91125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0D9488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81625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91125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SLO/SLA/错误预算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91375" y="3571875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91375" y="3571875"/>
            <a:ext cx="2047875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4250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4F46E5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4750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4250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实验/报告/场景库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34500" y="3571875"/>
            <a:ext cx="2047875" cy="8096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34500" y="3571875"/>
            <a:ext cx="2047875" cy="381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77375" y="3714750"/>
            <a:ext cx="285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B45309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7875" y="37147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77375" y="3971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知识库/图谱/推荐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2000" y="4667250"/>
            <a:ext cx="1857375" cy="4191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0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数据采集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67000" y="4857750"/>
            <a:ext cx="171450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5400000">
            <a:off x="2838450" y="48196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905125" y="4667250"/>
            <a:ext cx="1857375" cy="419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5125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数据存储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10125" y="4857750"/>
            <a:ext cx="171450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 rot="5400000">
            <a:off x="4981575" y="48196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048250" y="4667250"/>
            <a:ext cx="1857375" cy="419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48250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数据分析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53250" y="4857750"/>
            <a:ext cx="171450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 rot="5400000">
            <a:off x="7124700" y="48196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191375" y="4667250"/>
            <a:ext cx="1857375" cy="419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91375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智能决策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96375" y="4857750"/>
            <a:ext cx="171450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 rot="5400000">
            <a:off x="9267825" y="48196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334500" y="4667250"/>
            <a:ext cx="1857375" cy="4191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34500" y="4800600"/>
            <a:ext cx="1857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微软雅黑"/>
              </a:defRPr>
            </a:pPr>
            <a:r>
              <a:t>自动执行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2000" y="5334000"/>
            <a:ext cx="10668000" cy="476250"/>
          </a:xfrm>
          <a:prstGeom prst="roundRect">
            <a:avLst/>
          </a:prstGeom>
          <a:solidFill>
            <a:srgbClr val="2C1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2500" y="5495925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核心数据流：采集 → 存储 → 分析 → 决策 → 执行，AI 驱动全链路自动化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04 / 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功能全景图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05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AIOPS INTELLIGENT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AI智能助手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自然语言交互 · 智能问答 · 故障诊断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智能体编排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工作流设计 · 任务编排 · 自动化流程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特征仓库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特征工程 · 模型训练 · 数据准备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预测模型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异常预测 · 趋势预测 · 容量规划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告警中心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接收告警 · 自动诊断 · 推荐方案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创建故障单 · 自动分配 · 跟踪处理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触发自愈 · 自动修复常见故障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检索历史案例 · 提供参考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6500" y="56007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86500" y="5600700"/>
            <a:ext cx="47625" cy="59055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4625" y="56959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监控指标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4625" y="59340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分析监控数据 · 发现异常模式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05 / 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AIOps智能体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06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OBSERVABILITY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指标监控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CPU/MEM/DISK · 实时采集 · 可视化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日志分析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日志采集 · 全文检索 · 实时流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链路追踪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分布式追踪 · 延迟分析 · 依赖图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异常检测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7种算法 · Sigma/EWMA/STL/MAD/Prophet/LSTM/Transformer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告警中心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指标超限 → 自动告警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异常模式识别 · 智能分析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异常案例关联 · 推荐方案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指标关联资产 · 影响分析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06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可观测性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07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EVENT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告警管理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告警接收 · 查看处理 · 统计分析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创建分配 · 跟踪关闭 · 全生命周期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AI根因分析 · 关联资产 · 指标趋势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AI深度分析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LLM输出Markdown报告 · 修复建议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告警来源 · 指标/日志/事件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告警触发自愈 · 自动修复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历史案例 · 推荐解决方案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AI分析 · 智能分诊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07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事件中心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08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TASK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条件触发 · 自动修复 · 脚本执行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脚本执行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SSH远程执行 · 危险命令过滤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Ansible编排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Playbook · 批量操作 · 配置管理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任务编排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复杂工作流 · 依赖管理 · 定时任务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告警触发自愈任务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操作目标资产 · 连接配置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K8s操作 · Helm部署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Runbook关联 · 操作手册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08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任务中心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09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ASSET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资产列表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CRUD · 状态管理 · 标签管理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拓扑视图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资产关系 · 依赖分析 · 可视化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生命周期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纳管 → 使用 → 退役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连接管理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SSH/SNMP/HTTP/K8s · 测试连接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K8s集群同步 · 子资产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脚本执行目标 · 连接配置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关联监控指标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拓扑图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可视化关系 · 影响分析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09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资产管理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CONTAINER &amp; K8S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集群概览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K8s集群状态 · 资源使用 · 健康检查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资源拓扑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容器资源关系 · 依赖分析 · 可视化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Helm部署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Chart管理 · 版本控制 · 回滚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K8s操作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Pod/Service/Deployment · YAML编辑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集群同步为资产 · 子资产纳管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K8s操作任务 · 蓝绿发布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K8s事件告警 · 容器指标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17种严重reason自动转告警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10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容器与K8s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02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SRE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SLO管理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服务等级目标 · 燃烧率 · 错误预算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SLA管理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服务等级协议 · 可用性计算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错误预算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消耗跟踪 · 预警 · 冻结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可靠性看板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多维度可视化 · 趋势分析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SLO违规 → 告警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指标驱动SLO计算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验证可靠性 · 发现弱点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可靠性案例 · 最佳实践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11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SRE可靠性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告警处理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ALERT HANDLING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告警产生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指标/日志/K8s事件触发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告警分级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严重级别判断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AI智能体分析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自愈执行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自动修复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验证关闭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确认恢复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告警中心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接收处理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创建跟踪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异常检测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根因分析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自愈规则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自动修复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案例参考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30s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响应时间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90%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自愈成功率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5min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故障定位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种K8s事件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12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告警处理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故障排查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TROUBLESHOOTING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故障发现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告警/巡检/用户反馈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影响评估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范围/严重度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定位排查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指标/日志/追踪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修复处理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手动/自动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复盘总结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知识沉淀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指标日志追踪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故障单管理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AI分析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修复执行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案例沉淀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5min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平均定位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90%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自愈覆盖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种SOP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页演示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13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故障排查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资产纳管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ASSET ONBOARDING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资产发现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数据源同步/手动添加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连接配置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SSH/SNMP/HTTP/K8s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测试连接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验证连通性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纳管入库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资产列表/拓扑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标签管理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分类标记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CRUD/拓扑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集群同步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指标关联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操作目标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资产文档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284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纳管资产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种CI类型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种连接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纳管率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14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资产纳管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K8s运维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K8S OPERATIONS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集群接入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API Server/Token配置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资源同步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Pod/Service/Deploy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状态监控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健康检查/事件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操作执行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YAML/Helm/Scale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故障恢复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自愈/回滚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集群概览/拓扑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子资产纳管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K8s事件告警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K8s操作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容器指标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子资产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个集群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种事件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99.9%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可用性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15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K8s运维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变更发布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CHANGE &amp; RELEASE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变更申请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描述/影响/回滚方案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审批通过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多级审批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蓝绿发布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新版本部署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验证切换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流量切换/验证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完成归档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记录沉淀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执行发布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容器与K8s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蓝绿部署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变更告警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影响资产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变更文档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种发布场景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回滚失败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审批覆盖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30min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平均发布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16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变更发布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知识沉淀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KNOWLEDGE MANAGEMENT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知识采集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文档/案例/Runbook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向量化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BGE-M3 1024维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入库索引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Milvus向量库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智能检索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RAG语义搜索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推荐应用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告警推荐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知识库/图谱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AIOps智能体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query_knowledge_rag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告警推荐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Runbook关联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异常案例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切片文档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1024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维向量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0.05s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上传响应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60s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后台索引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17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知识沉淀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混沌实验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CHAOS ENGINEERING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场景设计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故障注入/爆炸半径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实验执行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稳态假设/注入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监控观测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指标/日志/追踪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分析报告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可靠性评估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改进优化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修复/加固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实验/报告/场景库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验证SLO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监控观测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异常告警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实验记录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种实验类型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稳态假设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生产事故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90%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覆盖率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18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混沌实验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03 · SOP流程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19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SRE可靠性管理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SRE RELIABILITY SOP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38100" cy="100012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SLO定义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服务等级目标设定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225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90512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37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375" y="2667000"/>
            <a:ext cx="38100" cy="100012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182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182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监控测量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指标采集/计算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62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14350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875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0" y="2667000"/>
            <a:ext cx="38100" cy="100012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错误预算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消耗跟踪/预警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39000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381875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77125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7125" y="2667000"/>
            <a:ext cx="38100" cy="100012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8575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行动决策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8575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冻结/放行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7375" y="3143250"/>
            <a:ext cx="142875" cy="19050"/>
          </a:xfrm>
          <a:prstGeom prst="rect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20250" y="3105150"/>
            <a:ext cx="76200" cy="76200"/>
          </a:xfrm>
          <a:prstGeom prst="triangle">
            <a:avLst/>
          </a:prstGeom>
          <a:solidFill>
            <a:srgbClr val="8A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2667000"/>
            <a:ext cx="1952625" cy="1000125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15500" y="2667000"/>
            <a:ext cx="38100" cy="100012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6950" y="2819400"/>
            <a:ext cx="1714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7C3AED"/>
                </a:solidFill>
                <a:latin typeface="微软雅黑"/>
              </a:defRPr>
            </a:pPr>
            <a:r>
              <a:t>STEP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6950" y="3019425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持续优化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6950" y="3314700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调整SLO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95287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238625"/>
            <a:ext cx="1905000" cy="28575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SRE可靠性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SLO/SLA/错误预算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987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09875" y="4238625"/>
            <a:ext cx="1905000" cy="28575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987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987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指标驱动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750" y="4238625"/>
            <a:ext cx="1905000" cy="28575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5775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SLO违规告警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5625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05625" y="4238625"/>
            <a:ext cx="1905000" cy="28575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5625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混沌工程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5625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验证可靠性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500" y="4238625"/>
            <a:ext cx="1905000" cy="5524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53500" y="4238625"/>
            <a:ext cx="1905000" cy="2857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3500" y="435292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3500" y="45624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" b="0">
                <a:solidFill>
                  <a:srgbClr val="5C4A3A"/>
                </a:solidFill>
                <a:latin typeface="微软雅黑"/>
              </a:defRPr>
            </a:pPr>
            <a:r>
              <a:t>最佳实践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" y="5048250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KEY METRICS · 关键指标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2000" y="5334000"/>
            <a:ext cx="2571750" cy="76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2000" y="5334000"/>
            <a:ext cx="38100" cy="7620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3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微软雅黑"/>
              </a:defRPr>
            </a:pPr>
            <a:r>
              <a:t>99.97%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5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可用性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334000"/>
            <a:ext cx="2571750" cy="762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29000" y="5334000"/>
            <a:ext cx="38100" cy="7620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2410C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个SLO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6000" y="5334000"/>
            <a:ext cx="2571750" cy="762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96000" y="5334000"/>
            <a:ext cx="38100" cy="762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D9488"/>
                </a:solidFill>
                <a:latin typeface="微软雅黑"/>
              </a:defRPr>
            </a:pPr>
            <a:r>
              <a:t>30d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错误预算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63000" y="5334000"/>
            <a:ext cx="2571750" cy="7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763000" y="5334000"/>
            <a:ext cx="38100" cy="7620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34450" y="5448300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B45309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96500" y="5514975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SLO违规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19 / 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SRE可靠性管理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04 · 系统集成与扩展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系统集成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SYSTEM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数据源集成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SSH/SNMP/HTTP/K8s · 多协议支持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告警通道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邮件/钉钉/企微/webhook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认证集成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LDAP/OAuth/SSO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CI/CD集成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Jenkins/GitLab/Helm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数据源同步资产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告警通道通知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CI/CD触发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文档集成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20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系统集成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04 · 系统集成与扩展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开放接口与API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OPEN API &amp; INTERFACES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资产管理API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资产CRUD · 状态查询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告警管理API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告警查询 · 处理 · 统计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任务执行API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脚本执行 · Ansible · 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指标查询API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指标数据 · 历史趋势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API操作资产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API管理告警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API执行任务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可观测性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API查询指标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21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开放接口与API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04 · 系统集成与扩展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85725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系统管理与安全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SYSTEM MANAGEMENT &amp;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CORE FEATURES · 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5241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RELATED · 关联功能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8575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2000" y="2857500"/>
            <a:ext cx="47625" cy="5905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125" y="29432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用户管理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908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RBAC · 角色权限 · 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5433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5433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安全防护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8766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bcrypt加盐 · 限流 · 命令过滤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2291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42291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" y="43148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系统监控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624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健康检查 · 性能指标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14900"/>
            <a:ext cx="53340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2000" y="49149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125" y="5000625"/>
            <a:ext cx="4953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C1810"/>
                </a:solidFill>
                <a:latin typeface="微软雅黑"/>
              </a:defRPr>
            </a:pPr>
            <a:r>
              <a:t>日志审计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5248275"/>
            <a:ext cx="49530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操作日志 · 安全审计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2857500"/>
            <a:ext cx="47625" cy="59055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625" y="29527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资产管理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31908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用户权限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5433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86500" y="3543300"/>
            <a:ext cx="47625" cy="5905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625" y="3638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任务中心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8766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操作审计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2291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86500" y="4229100"/>
            <a:ext cx="47625" cy="5905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625" y="4324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事件中心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45624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安全告警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500" y="4914900"/>
            <a:ext cx="5143500" cy="5905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86500" y="4914900"/>
            <a:ext cx="47625" cy="5905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625" y="50101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5248275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审计记录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22 /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系统管理与安全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05 · 总结与价值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实施路径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分阶段落地 · 快速见效 · 持续优化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10668000" cy="6286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47625" cy="6286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125" y="279082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C2410C"/>
                </a:solidFill>
                <a:latin typeface="微软雅黑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9527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2C1810"/>
                </a:solidFill>
                <a:latin typeface="微软雅黑"/>
              </a:defRPr>
            </a:pPr>
            <a:r>
              <a:t>基础部署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28194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C2410C"/>
                </a:solidFill>
                <a:latin typeface="微软雅黑"/>
              </a:defRPr>
            </a:pPr>
            <a:r>
              <a:t>1-2周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282892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5C4A3A"/>
                </a:solidFill>
                <a:latin typeface="微软雅黑"/>
              </a:defRPr>
            </a:pPr>
            <a:r>
              <a:t>平台部署 · 数据源接入 · 资产纳管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409950"/>
            <a:ext cx="10668000" cy="6286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000" y="3409950"/>
            <a:ext cx="47625" cy="6286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353377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DC2626"/>
                </a:solidFill>
                <a:latin typeface="微软雅黑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6957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2C1810"/>
                </a:solidFill>
                <a:latin typeface="微软雅黑"/>
              </a:defRPr>
            </a:pPr>
            <a:r>
              <a:t>监控覆盖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0" y="356235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微软雅黑"/>
              </a:defRPr>
            </a:pPr>
            <a:r>
              <a:t>2-4周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6250" y="357187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5C4A3A"/>
                </a:solidFill>
                <a:latin typeface="微软雅黑"/>
              </a:defRPr>
            </a:pPr>
            <a:r>
              <a:t>指标采集 · 告警配置 · 仪表盘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4152900"/>
            <a:ext cx="10668000" cy="6286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152900"/>
            <a:ext cx="47625" cy="6286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125" y="427672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0D9488"/>
                </a:solidFill>
                <a:latin typeface="微软雅黑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44386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2C1810"/>
                </a:solidFill>
                <a:latin typeface="微软雅黑"/>
              </a:defRPr>
            </a:pPr>
            <a:r>
              <a:t>智能运维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0" y="430530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微软雅黑"/>
              </a:defRPr>
            </a:pPr>
            <a:r>
              <a:t>4-8周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6250" y="431482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5C4A3A"/>
                </a:solidFill>
                <a:latin typeface="微软雅黑"/>
              </a:defRPr>
            </a:pPr>
            <a:r>
              <a:t>AIOps · 自愈规则 · 知识库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4895850"/>
            <a:ext cx="10668000" cy="6286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2000" y="4895850"/>
            <a:ext cx="47625" cy="6286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125" y="5019675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4F46E5"/>
                </a:solidFill>
                <a:latin typeface="微软雅黑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" y="51816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2C1810"/>
                </a:solidFill>
                <a:latin typeface="微软雅黑"/>
              </a:defRPr>
            </a:pPr>
            <a:r>
              <a:t>持续优化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8000" y="504825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4F46E5"/>
                </a:solidFill>
                <a:latin typeface="微软雅黑"/>
              </a:defRPr>
            </a:pPr>
            <a:r>
              <a:t>持续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6250" y="5057775"/>
            <a:ext cx="685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0">
                <a:solidFill>
                  <a:srgbClr val="5C4A3A"/>
                </a:solidFill>
                <a:latin typeface="微软雅黑"/>
              </a:defRPr>
            </a:pPr>
            <a:r>
              <a:t>SLO · 混沌工程 · 容量规划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23 /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实施路径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05 · 总结与价值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技术支持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专业团队 · 全程保障 · 持续赋能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2571750" cy="104775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7×24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全天候支持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667000"/>
            <a:ext cx="2571750" cy="104775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响应时间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2667000"/>
            <a:ext cx="2571750" cy="104775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48h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问题解决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63000" y="2667000"/>
            <a:ext cx="2571750" cy="104775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0" y="2838450"/>
            <a:ext cx="2571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0" y="3419475"/>
            <a:ext cx="2571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/>
              </a:defRPr>
            </a:pPr>
            <a:r>
              <a:t>客户满意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409575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4095750"/>
            <a:ext cx="38100" cy="5715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41624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部署实施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44005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专业团队协助部署 · 定制化配置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000" y="476250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2000" y="4762500"/>
            <a:ext cx="38100" cy="5715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500" y="48291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培训赋能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50673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产品培训 · 最佳实践 · 运维认证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542925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2000" y="5429250"/>
            <a:ext cx="38100" cy="5715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500" y="54959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技术支持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" y="57340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7×24响应 · 远程协助 · 现场支持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000" y="609600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2000" y="6096000"/>
            <a:ext cx="38100" cy="5715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500" y="61626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持续优化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" y="64008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定期巡检 · 性能调优 · 版本升级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500" y="409575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6500" y="4095750"/>
            <a:ext cx="38100" cy="571500"/>
          </a:xfrm>
          <a:prstGeom prst="roundRect">
            <a:avLst/>
          </a:prstGeom>
          <a:solidFill>
            <a:srgbClr val="5C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7000" y="41624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社区生态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0" y="44005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开源贡献 · 技术分享 · 用户社区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6500" y="476250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86500" y="4762500"/>
            <a:ext cx="38100" cy="5715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7000" y="48291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文档中心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50673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产品文档 · API文档 · 最佳实践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6500" y="542925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86500" y="5429250"/>
            <a:ext cx="38100" cy="5715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7000" y="54959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工单系统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0" y="57340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在线提交 · 进度跟踪 · SLA保障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6500" y="6096000"/>
            <a:ext cx="5143500" cy="57150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86500" y="6096000"/>
            <a:ext cx="38100" cy="5715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7000" y="61626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5" b="1">
                <a:solidFill>
                  <a:srgbClr val="2C1810"/>
                </a:solidFill>
                <a:latin typeface="微软雅黑"/>
              </a:defRPr>
            </a:pPr>
            <a:r>
              <a:t>专属群组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0" y="640080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25" b="0">
                <a:solidFill>
                  <a:srgbClr val="5C4A3A"/>
                </a:solidFill>
                <a:latin typeface="微软雅黑"/>
              </a:defRPr>
            </a:pPr>
            <a:r>
              <a:t>技术专家 · 快速响应 · 经验交流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24 / 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技术支持与培训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809625"/>
            <a:ext cx="6667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AIOPS · 05 · 总结与价值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0" y="80962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28725"/>
            <a:ext cx="5715000" cy="8477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2C1810"/>
                </a:solidFill>
                <a:latin typeface="微软雅黑"/>
              </a:defRPr>
            </a:pPr>
            <a:r>
              <a:t>核心价值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812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降本增效 · 智能运维 · 持续演进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362200"/>
            <a:ext cx="10668000" cy="9525"/>
          </a:xfrm>
          <a:prstGeom prst="rect">
            <a:avLst/>
          </a:prstGeom>
          <a:solidFill>
            <a:srgbClr val="C8B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667000"/>
            <a:ext cx="2571750" cy="1428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667000"/>
            <a:ext cx="2571750" cy="381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C2410C"/>
                </a:solidFill>
                <a:latin typeface="微软雅黑"/>
              </a:defRPr>
            </a:pPr>
            <a: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8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8A7A6A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自动化运维覆盖率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减少人工干预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667000"/>
            <a:ext cx="2571750" cy="1428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9000" y="2667000"/>
            <a:ext cx="2571750" cy="38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DC2626"/>
                </a:solidFill>
                <a:latin typeface="微软雅黑"/>
              </a:defRPr>
            </a:pPr>
            <a:r>
              <a:t>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5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8A7A6A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自愈执行成功率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快速故障恢复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0" y="2667000"/>
            <a:ext cx="2571750" cy="1428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6000" y="2667000"/>
            <a:ext cx="2571750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6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0D9488"/>
                </a:solidFill>
                <a:latin typeface="微软雅黑"/>
              </a:defRPr>
            </a:pPr>
            <a: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8A7A6A"/>
                </a:solidFill>
                <a:latin typeface="微软雅黑"/>
              </a:defRPr>
            </a:pPr>
            <a: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告警响应时间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实时感知处置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000" y="2667000"/>
            <a:ext cx="2571750" cy="1428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63000" y="2667000"/>
            <a:ext cx="2571750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3500" y="2886075"/>
            <a:ext cx="1428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150" b="1">
                <a:solidFill>
                  <a:srgbClr val="4F46E5"/>
                </a:solidFill>
                <a:latin typeface="微软雅黑"/>
              </a:defRPr>
            </a:pPr>
            <a:r>
              <a:t>99.97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9375" y="3133725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8A7A6A"/>
                </a:solidFill>
                <a:latin typeface="微软雅黑"/>
              </a:defRPr>
            </a:pPr>
            <a: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3500" y="3590925"/>
            <a:ext cx="2381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75" b="1">
                <a:solidFill>
                  <a:srgbClr val="2C1810"/>
                </a:solidFill>
                <a:latin typeface="微软雅黑"/>
              </a:defRPr>
            </a:pPr>
            <a:r>
              <a:t>系统可用性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3500" y="38100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SLO驱动保障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000" y="4476750"/>
            <a:ext cx="2571750" cy="666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2000" y="4476750"/>
            <a:ext cx="2571750" cy="381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微软雅黑"/>
              </a:defRPr>
            </a:pPr>
            <a:r>
              <a:t>降本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减少运维人力 · 降低故障损失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4476750"/>
            <a:ext cx="2571750" cy="666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9000" y="4476750"/>
            <a:ext cx="2571750" cy="381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9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微软雅黑"/>
              </a:defRPr>
            </a:pPr>
            <a:r>
              <a:t>增效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9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提升运维效率 · 加速故障恢复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6000" y="4476750"/>
            <a:ext cx="2571750" cy="666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96000" y="4476750"/>
            <a:ext cx="2571750" cy="381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6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D9488"/>
                </a:solidFill>
                <a:latin typeface="微软雅黑"/>
              </a:defRPr>
            </a:pPr>
            <a:r>
              <a:t>智能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6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AI驱动决策 · 知识持续沉淀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63000" y="4476750"/>
            <a:ext cx="2571750" cy="666750"/>
          </a:xfrm>
          <a:prstGeom prst="roundRect">
            <a:avLst/>
          </a:prstGeom>
          <a:solidFill>
            <a:srgbClr val="F8F4ED"/>
          </a:solidFill>
          <a:ln w="12700">
            <a:solidFill>
              <a:srgbClr val="C8B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63000" y="4476750"/>
            <a:ext cx="2571750" cy="381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53500" y="459105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微软雅黑"/>
              </a:defRPr>
            </a:pPr>
            <a:r>
              <a:t>可靠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3500" y="4876800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5C4A3A"/>
                </a:solidFill>
                <a:latin typeface="微软雅黑"/>
              </a:defRPr>
            </a:pPr>
            <a:r>
              <a:t>SLO保障 · 混沌验证 · 持续优化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" y="6629400"/>
            <a:ext cx="952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25 / 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2500" y="6629400"/>
            <a:ext cx="3619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AIOps · 产品核心价值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2C1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000250"/>
            <a:ext cx="5715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750" b="1">
                <a:solidFill>
                  <a:srgbClr val="2C1810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195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0">
                <a:solidFill>
                  <a:srgbClr val="5C4A3A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29250" y="4095750"/>
            <a:ext cx="952500" cy="2857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3434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0">
                <a:solidFill>
                  <a:srgbClr val="5C4A3A"/>
                </a:solidFill>
                <a:latin typeface="微软雅黑"/>
              </a:defRPr>
            </a:pPr>
            <a:r>
              <a:t>AI 驱动的全栈可观测性与自动化运维解决方案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0" y="10572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75" b="0">
                <a:solidFill>
                  <a:srgbClr val="FFFFFF"/>
                </a:solidFill>
                <a:latin typeface="微软雅黑"/>
              </a:defRPr>
            </a:pPr>
            <a:r>
              <a:t>AIOPS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0" y="2552700"/>
            <a:ext cx="2857500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0" y="377190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A08A72"/>
                </a:solidFill>
                <a:latin typeface="微软雅黑"/>
              </a:defRPr>
            </a:pPr>
            <a:r>
              <a:t>提问与交流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0" y="561975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8A7A6A"/>
                </a:solidFill>
                <a:latin typeface="微软雅黑"/>
              </a:defRPr>
            </a:pPr>
            <a:r>
              <a:t>2026.07 · v1.0 ·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0" y="6581775"/>
            <a:ext cx="1524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75" b="0">
                <a:solidFill>
                  <a:srgbClr val="8A7A6A"/>
                </a:solidFill>
                <a:latin typeface="微软雅黑"/>
              </a:defRPr>
            </a:pPr>
            <a: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